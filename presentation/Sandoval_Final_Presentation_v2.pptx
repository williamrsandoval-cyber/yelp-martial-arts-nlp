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Calibri"/>
              </a:defRPr>
            </a:pPr>
            <a:r>
              <a:rPr sz="1400" b="0" i="0" u="none" strike="noStrike">
                <a:solidFill>
                  <a:srgbClr val="1F2937"/>
                </a:solidFill>
                <a:latin typeface="Calibri"/>
              </a:rPr>
              <a:t>Sentiment label distribution (n = 3,212)</a:t>
            </a:r>
          </a:p>
        </c:rich>
      </c:tx>
      <c:layout/>
      <c:overlay val="0"/>
    </c:title>
    <c:autoTitleDeleted val="0"/>
    <c:plotArea>
      <c:layout/>
      <c:doughnutChart>
        <c:varyColors val="1"/>
        <c:ser>
          <c:idx val="0"/>
          <c:order val="0"/>
          <c:tx>
            <c:strRef>
              <c:f>Sheet1!$B$1</c:f>
              <c:strCache>
                <c:ptCount val="1"/>
                <c:pt idx="0">
                  <c:v>Sentiment</c:v>
                </c:pt>
              </c:strCache>
            </c:strRef>
          </c:tx>
          <c:spPr>
            <a:solidFill>
              <a:schemeClr val="accent1"/>
            </a:solidFill>
            <a:ln w="9525" cap="flat">
              <a:solidFill>
                <a:srgbClr val="F9F9F9"/>
              </a:solidFill>
              <a:prstDash val="solid"/>
              <a:round/>
            </a:ln>
            <a:effectLst/>
          </c:spPr>
          <c:dPt>
            <c:idx val="0"/>
            <c:bubble3D val="0"/>
            <c:spPr>
              <a:solidFill>
                <a:srgbClr val="0F766E"/>
              </a:solidFill>
              <a:effectLst/>
            </c:spPr>
          </c:dPt>
          <c:dPt>
            <c:idx val="1"/>
            <c:bubble3D val="0"/>
            <c:spPr>
              <a:solidFill>
                <a:srgbClr val="DC2626"/>
              </a:solidFill>
              <a:effectLst/>
            </c:spPr>
          </c:dPt>
          <c:dLbls>
            <c:dLbl>
              <c:idx val="0"/>
              <c:numFmt formatCode="0%" sourceLinked="0"/>
              <c:spPr/>
              <c:txPr>
                <a:bodyPr/>
                <a:lstStyle/>
                <a:p>
                  <a:pPr>
                    <a:defRPr sz="14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4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Positive (4-5★)</c:v>
                </c:pt>
                <c:pt idx="1">
                  <c:v>Negative (1-2★)</c:v>
                </c:pt>
              </c:strCache>
            </c:strRef>
          </c:cat>
          <c:val>
            <c:numRef>
              <c:f>Sheet1!$B$2:$B$3</c:f>
              <c:numCache>
                <c:ptCount val="2"/>
                <c:pt idx="0">
                  <c:v>2627</c:v>
                </c:pt>
                <c:pt idx="1">
                  <c:v>585</c:v>
                </c:pt>
              </c:numCache>
            </c:numRef>
          </c:val>
        </c:ser>
        <c:firstSliceAng val="0"/>
        <c:holeSize val="55"/>
      </c:doughnutChart>
      <c:spPr>
        <a:noFill/>
        <a:ln>
          <a:noFill/>
        </a:ln>
        <a:effectLst/>
      </c:spPr>
    </c:plotArea>
    <c:legend>
      <c:legendPos val="b"/>
      <c:overlay val="0"/>
      <c:txPr>
        <a:bodyPr/>
        <a:lstStyle/>
        <a:p>
          <a:pPr>
            <a:defRPr sz="1200">
              <a:solidFill>
                <a:srgbClr val="1F2937"/>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Calibri"/>
              </a:defRPr>
            </a:pPr>
            <a:r>
              <a:rPr sz="1400" b="0" i="0" u="none" strike="noStrike">
                <a:solidFill>
                  <a:srgbClr val="1F2937"/>
                </a:solidFill>
                <a:latin typeface="Calibri"/>
              </a:rPr>
              <a:t>Star rating distribution (3-star excluded)</a:t>
            </a:r>
          </a:p>
        </c:rich>
      </c:tx>
      <c:layout/>
      <c:overlay val="0"/>
    </c:title>
    <c:autoTitleDeleted val="0"/>
    <c:plotArea>
      <c:layout/>
      <c:barChart>
        <c:barDir val="col"/>
        <c:grouping val="clustered"/>
        <c:varyColors val="0"/>
        <c:ser>
          <c:idx val="0"/>
          <c:order val="0"/>
          <c:tx>
            <c:strRef>
              <c:f>Sheet1!$B$1</c:f>
              <c:strCache>
                <c:ptCount val="1"/>
                <c:pt idx="0">
                  <c:v>Reviews</c:v>
                </c:pt>
              </c:strCache>
            </c:strRef>
          </c:tx>
          <c:spPr>
            <a:solidFill>
              <a:srgbClr val="0F766E"/>
            </a:solidFill>
            <a:effectLst/>
          </c:spPr>
          <c:invertIfNegative val="0"/>
          <c:dLbls>
            <c:numFmt formatCode="#,##0" sourceLinked="0"/>
            <c:txPr>
              <a:bodyPr/>
              <a:lstStyle/>
              <a:p>
                <a:pPr>
                  <a:defRPr b="1"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1 ★</c:v>
                  </c:pt>
                  <c:pt idx="1">
                    <c:v>2 ★</c:v>
                  </c:pt>
                  <c:pt idx="2">
                    <c:v>4 ★</c:v>
                  </c:pt>
                  <c:pt idx="3">
                    <c:v>5 ★</c:v>
                  </c:pt>
                </c:lvl>
              </c:multiLvlStrCache>
            </c:multiLvlStrRef>
          </c:cat>
          <c:val>
            <c:numRef>
              <c:f>Sheet1!$B$2:$B$5</c:f>
              <c:numCache>
                <c:formatCode>General</c:formatCode>
                <c:ptCount val="4"/>
                <c:pt idx="0">
                  <c:v>365</c:v>
                </c:pt>
                <c:pt idx="1">
                  <c:v>220</c:v>
                </c:pt>
                <c:pt idx="2">
                  <c:v>720</c:v>
                </c:pt>
                <c:pt idx="3">
                  <c:v>1907</c:v>
                </c:pt>
              </c:numCache>
            </c:numRef>
          </c:val>
        </c:ser>
        <c:dLbls>
          <c:numFmt formatCode="#,##0" sourceLinked="0"/>
          <c:txPr>
            <a:bodyPr/>
            <a:lstStyle/>
            <a:p>
              <a:pPr>
                <a:defRPr b="1"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Calibri"/>
              </a:defRPr>
            </a:pPr>
            <a:r>
              <a:rPr sz="1400" b="0" i="0" u="none" strike="noStrike">
                <a:solidFill>
                  <a:srgbClr val="1F2937"/>
                </a:solidFill>
                <a:latin typeface="Calibri"/>
              </a:rPr>
              <a:t>Top cities by review volume</a:t>
            </a:r>
          </a:p>
        </c:rich>
      </c:tx>
      <c:layout/>
      <c:overlay val="0"/>
    </c:title>
    <c:autoTitleDeleted val="0"/>
    <c:plotArea>
      <c:layout/>
      <c:barChart>
        <c:barDir val="bar"/>
        <c:grouping val="clustered"/>
        <c:varyColors val="0"/>
        <c:ser>
          <c:idx val="0"/>
          <c:order val="0"/>
          <c:tx>
            <c:strRef>
              <c:f>Sheet1!$B$1</c:f>
              <c:strCache>
                <c:ptCount val="1"/>
                <c:pt idx="0">
                  <c:v>Reviews</c:v>
                </c:pt>
              </c:strCache>
            </c:strRef>
          </c:tx>
          <c:spPr>
            <a:solidFill>
              <a:srgbClr val="1F2937"/>
            </a:solidFill>
            <a:effectLst/>
          </c:spPr>
          <c:invertIfNegative val="0"/>
          <c:dLbls>
            <c:numFmt formatCode="#,##0" sourceLinked="0"/>
            <c:txPr>
              <a:bodyPr/>
              <a:lstStyle/>
              <a:p>
                <a:pPr>
                  <a:defRPr b="1"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Sheet1!$A$2:$A$8</c:f>
              <c:multiLvlStrCache>
                <c:ptCount val="7"/>
                <c:lvl>
                  <c:pt idx="0">
                    <c:v>Reno</c:v>
                  </c:pt>
                  <c:pt idx="1">
                    <c:v>Philadelphia</c:v>
                  </c:pt>
                  <c:pt idx="2">
                    <c:v>Nashville</c:v>
                  </c:pt>
                  <c:pt idx="3">
                    <c:v>Tucson</c:v>
                  </c:pt>
                  <c:pt idx="4">
                    <c:v>Santa Barbara</c:v>
                  </c:pt>
                  <c:pt idx="5">
                    <c:v>Goleta</c:v>
                  </c:pt>
                  <c:pt idx="6">
                    <c:v>Tampa</c:v>
                  </c:pt>
                </c:lvl>
              </c:multiLvlStrCache>
            </c:multiLvlStrRef>
          </c:cat>
          <c:val>
            <c:numRef>
              <c:f>Sheet1!$B$2:$B$8</c:f>
              <c:numCache>
                <c:formatCode>General</c:formatCode>
                <c:ptCount val="7"/>
                <c:pt idx="0">
                  <c:v>506</c:v>
                </c:pt>
                <c:pt idx="1">
                  <c:v>446</c:v>
                </c:pt>
                <c:pt idx="2">
                  <c:v>293</c:v>
                </c:pt>
                <c:pt idx="3">
                  <c:v>242</c:v>
                </c:pt>
                <c:pt idx="4">
                  <c:v>211</c:v>
                </c:pt>
                <c:pt idx="5">
                  <c:v>106</c:v>
                </c:pt>
                <c:pt idx="6">
                  <c:v>87</c:v>
                </c:pt>
              </c:numCache>
            </c:numRef>
          </c:val>
        </c:ser>
        <c:dLbls>
          <c:numFmt formatCode="#,##0" sourceLinked="0"/>
          <c:txPr>
            <a:bodyPr/>
            <a:lstStyle/>
            <a:p>
              <a:pPr>
                <a:defRPr b="1"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Reviews</c:v>
                </c:pt>
              </c:strCache>
            </c:strRef>
          </c:tx>
          <c:spPr>
            <a:solidFill>
              <a:srgbClr val="1F2937"/>
            </a:solidFill>
            <a:effectLst/>
          </c:spPr>
          <c:invertIfNegative val="0"/>
          <c:dLbls>
            <c:numFmt formatCode="#,##0" sourceLinked="0"/>
            <c:txPr>
              <a:bodyPr/>
              <a:lstStyle/>
              <a:p>
                <a:pPr>
                  <a:defRPr b="1"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T0 Contract</c:v>
                  </c:pt>
                  <c:pt idx="1">
                    <c:v>T1 Facility</c:v>
                  </c:pt>
                  <c:pt idx="2">
                    <c:v>T2 Service</c:v>
                  </c:pt>
                  <c:pt idx="3">
                    <c:v>T3 Workout</c:v>
                  </c:pt>
                  <c:pt idx="4">
                    <c:v>T4 Coaching</c:v>
                  </c:pt>
                </c:lvl>
              </c:multiLvlStrCache>
            </c:multiLvlStrRef>
          </c:cat>
          <c:val>
            <c:numRef>
              <c:f>Sheet1!$B$2:$B$6</c:f>
              <c:numCache>
                <c:formatCode>General</c:formatCode>
                <c:ptCount val="5"/>
                <c:pt idx="0">
                  <c:v>352</c:v>
                </c:pt>
                <c:pt idx="1">
                  <c:v>303</c:v>
                </c:pt>
                <c:pt idx="2">
                  <c:v>266</c:v>
                </c:pt>
                <c:pt idx="3">
                  <c:v>1149</c:v>
                </c:pt>
                <c:pt idx="4">
                  <c:v>1142</c:v>
                </c:pt>
              </c:numCache>
            </c:numRef>
          </c:val>
        </c:ser>
        <c:dLbls>
          <c:numFmt formatCode="#,##0" sourceLinked="0"/>
          <c:txPr>
            <a:bodyPr/>
            <a:lstStyle/>
            <a:p>
              <a:pPr>
                <a:defRPr b="1" i="0" strike="noStrike" sz="1000" u="none">
                  <a:solidFill>
                    <a:srgbClr val="1F29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7"/>
                </a:solidFill>
                <a:latin typeface="Calibri"/>
              </a:defRPr>
            </a:pPr>
            <a:r>
              <a:rPr sz="1300" b="0" i="0" u="none" strike="noStrike">
                <a:solidFill>
                  <a:srgbClr val="1F2937"/>
                </a:solidFill>
                <a:latin typeface="Calibri"/>
              </a:rPr>
              <a:t>F1 score on the negative class (higher is better)</a:t>
            </a:r>
          </a:p>
        </c:rich>
      </c:tx>
      <c:layout/>
      <c:overlay val="0"/>
    </c:title>
    <c:autoTitleDeleted val="0"/>
    <c:plotArea>
      <c:layout/>
      <c:barChart>
        <c:barDir val="bar"/>
        <c:grouping val="clustered"/>
        <c:varyColors val="0"/>
        <c:ser>
          <c:idx val="0"/>
          <c:order val="0"/>
          <c:tx>
            <c:strRef>
              <c:f>Sheet1!$B$1</c:f>
              <c:strCache>
                <c:ptCount val="1"/>
                <c:pt idx="0">
                  <c:v>F1 (negative class)</c:v>
                </c:pt>
              </c:strCache>
            </c:strRef>
          </c:tx>
          <c:spPr>
            <a:solidFill>
              <a:srgbClr val="0F766E"/>
            </a:solidFill>
            <a:effectLst/>
          </c:spPr>
          <c:invertIfNegative val="0"/>
          <c:dLbls>
            <c:numFmt formatCode="0.00" sourceLinked="0"/>
            <c:txPr>
              <a:bodyPr/>
              <a:lstStyle/>
              <a:p>
                <a:pPr>
                  <a:defRPr b="1"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Sheet1!$A$2:$A$7</c:f>
              <c:multiLvlStrCache>
                <c:ptCount val="6"/>
                <c:lvl>
                  <c:pt idx="0">
                    <c:v>Llama 3.2 Few-Shot</c:v>
                  </c:pt>
                  <c:pt idx="1">
                    <c:v>TF-IDF + Linear SVM</c:v>
                  </c:pt>
                  <c:pt idx="2">
                    <c:v>GRU + Frozen GloVe</c:v>
                  </c:pt>
                  <c:pt idx="3">
                    <c:v>Llama 3.2 Zero-Shot</c:v>
                  </c:pt>
                  <c:pt idx="4">
                    <c:v>VADER (200-sample)</c:v>
                  </c:pt>
                  <c:pt idx="5">
                    <c:v>VADER (full data)</c:v>
                  </c:pt>
                </c:lvl>
              </c:multiLvlStrCache>
            </c:multiLvlStrRef>
          </c:cat>
          <c:val>
            <c:numRef>
              <c:f>Sheet1!$B$2:$B$7</c:f>
              <c:numCache>
                <c:formatCode>General</c:formatCode>
                <c:ptCount val="6"/>
                <c:pt idx="0">
                  <c:v>0.95</c:v>
                </c:pt>
                <c:pt idx="1">
                  <c:v>0.89</c:v>
                </c:pt>
                <c:pt idx="2">
                  <c:v>0.85</c:v>
                </c:pt>
                <c:pt idx="3">
                  <c:v>0.84</c:v>
                </c:pt>
                <c:pt idx="4">
                  <c:v>0.77</c:v>
                </c:pt>
                <c:pt idx="5">
                  <c:v>0.68</c:v>
                </c:pt>
              </c:numCache>
            </c:numRef>
          </c:val>
        </c:ser>
        <c:dLbls>
          <c:numFmt formatCode="0.00" sourceLinked="0"/>
          <c:txPr>
            <a:bodyPr/>
            <a:lstStyle/>
            <a:p>
              <a:pPr>
                <a:defRPr b="1" i="0" strike="noStrike" sz="12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My name is William Sandoval, and this is my final project for the MS AIB program at ASU. The project asks a simple but real question: when people read Yelp reviews of martial arts schools, what actually drives them to enroll? I have a personal stake in this work. I own Patriot Martial Arts Academy where we teach Brazilian Jiu Jitsu and Machida Karate, so I treated this not just as an academic exercise but as a way to listen, at scale, to what 3,200 customers across 265 gyms are actually saying. Over the next ten minutes I'll walk you through the business problem, the data, three NLP methods I applied, the results, and what they mean for an owner like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business problem itself. Three things make this a real decision-making problem rather than a curiosity. First, reviews drive trial — a parent shopping for their kid's first karate class is reading Yelp before they ever pick up the phone. Second, our margins live and die on retention and reputation. We don't compete on being cheaper; we compete on instructor quality, atmosphere, and trust. Third, and this is the kicker — owners read reviews one at a time. We see individual praise and individual complaints, but we cannot see the patterns that repeat across hundreds or thousands of reviews. That's where NLP earns its keep. The goal of this project is to surface those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research question in plain language: what factors in Yelp reviews influence a customer's decision to enroll in a martial arts school? I want to be honest about what a useful answer looks like, because the rubric and my own goal both require that. First, I want themes that repeat — not the loudest review, not the funniest review, but the topics that appear over and over. Second, I want sentiment I can act on. It's not enough to know that 80 percent of reviews are positive; I need to know what the negative reviews keep coming back to. Third, I want a classifier accurate enough that a school owner could realistically score new incoming reviews. That third one is the operational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the Yelp Open Dataset. I started with the full business and review files — the review file alone is too large for Colab — and filtered locally to just martial arts businesses, which gave me 265 schools. After cleaning and after dropping three-star reviews, I had 3,212 usable reviews. I dropped three-star reviews on purpose: they're mixed and they muddy a binary positive-versus-negative classification problem. I then created a binary label: one-and-two-star reviews are negative, four-and-five-star reviews are positive. The pipeline at the bottom is the path from raw JSON to a clean, labeled, model-ready dataset. A few headlines: 4.22 average stars and 122 words per review on average. That second number matters — these are not one-line reviews. There's real text to work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EDA finding, and probably the most important one analytically: the data is heavily imbalanced. Eighty-two percent of reviews are positive, eighteen percent are negative. That makes sense — Yelp self-selects for happy customers. People who had a great class write a glowing review; people who were unhappy often just leave quietly and never come back. But for modeling, this matters a lot. If I just predicted 'positive' for every review, I'd be 82 percent accurate without doing any work. So I made three adjustments. I stratified my train-test split. I made sure to watch recall on the negative class, not just overall accuracy. And I leaned into the idea that negative reviews are information-dense — when someone takes the time to write a one-star review, they tell you exactly what went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EDA views worth showing. On the left, the star rating distribution. Five-star reviews dominate, four-star is the second largest, and the negative reviews are split between one and two. The classic J-shape that's typical of online reviews. On the right, the geographic distribution — where these reviews are coming from. Reno is actually the largest, followed by Philadelphia and Nashville. That's not because martial arts is bigger in Reno; it's because of which businesses Yelp happened to capture in this slice of the dataset. The reason this matters for me as an owner is that any conclusions I draw apply most strongly to schools that look like the schools in this dataset — urban or suburban, with a Yelp presence, in markets where customers actively post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six NLP methods that span the full course curriculum, from the simple lexicon-based VADER all the way to LLM prompting with Llama 3.2. Sentiment is covered two ways: VADER as a fast lexicon baseline, and Llama 3.2 with both zero-shot and few-shot prompting to see if a modern LLM can read mixed sentiment that VADER misses. Topic modeling is also covered two ways: classical LDA, and BERTopic which uses sentence-transformer embeddings and lets me ask which themes differ between low-star and high-star reviewers — the most directly business-relevant view. Classification is covered two ways: TF-IDF with a Linear SVM as the strong classical baseline, and a GRU with frozen GloVe embeddings as the neural alternative. Each pair gives me a classical-versus-modern comparison, and the methods comparison slide later shows how they stack up on the same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VADER results. The headline is 91 percent weighted F1 between VADER's labels and the star-based labels. So most of the time, the language in the review matches the star rating — that's expected. But look at the class-level breakdown. On the positive class, VADER nails it: F1 of 0.95, recall of 0.99. On the negative class, it falls off — F1 of 0.68 and recall of just 0.55. VADER misses about half of the negative reviews. Why? Because people are often polite about complaints. They'll write something like 'the instructors were great, but the contract process was a nightmare,' and VADER reads the polite half and calls it positive. Here's the thing — those mixed reviews are the most valuable ones for an owner. Happy customer, specific complaint. So I asked: can a modern LLM read those mixed reviews better than a lexicon?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surprising result in the project. I scored 200 reviews — a balanced sample of 100 positive and 100 negative — three different ways. VADER on this sample hit F1 of 0.77 on the negative class. Llama 3.2 with zero-shot prompting jumped to 0.84. And Llama with few-shot prompting hit 0.95. Few-shot just means I prepended four labeled examples to each prompt — two positive reviews and two negative reviews — drawn from outside my evaluation sample so there's no leakage. That single change closed the gap on the negative class almost completely. The reason it works: Llama reads context. When a customer writes 'the instructors were great, but the contract was a nightmare,' VADER reads the polite half and calls it positive. Llama reads the whole sentence and gets it right. Operationally, this is the case for using a two-stage pipeline: a fast classical model for triage, and the LLM for the cases where context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LDA. I asked the model to discover five topics in the data — I didn't tell it what to look for. Five interpretable themes came out. Topic zero: contracts and membership. Words like month, membership, contract, told, sign. This is operational friction. Topic one: facility and equipment — gym, equipment, room, clean. Topic two: customer service — service, customer, business, owner, money. Notice the word 'money' appearing here. Topic three: the workout experience itself — class, workout, great, love. Topic four — and this is the one that mattered most to me — coaching and kids programs. Words like training, instructors, kids, students, school. LDA gives interpretable themes, but it treats words as a bag — it can't tell that 'great instructor' and 'amazing coach' are saying the same thing. So I also ran BERTopic, which clusters reviews in semantic space —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BERTopic is the more advanced topic modeling approach. Instead of treating words as a bag, it uses sentence-transformer embeddings to cluster reviews in semantic space. The practical upgrade is that words like 'coach,' 'instructor,' 'sensei,' and 'teacher' all land in the same cluster automatically, instead of being split across multiple topics by surface form. But the most useful feature is on the right: topics_per_class. I keyed it on star rating, which gives me exactly the analysis a school owner wants. On the to-fix side — themes over-represented in one and two-star reviews — it's contracts, billing, cancellation, front desk. On the marketing side — themes over-represented in four and five-star reviews — it's instructor quality, kids programs, training environment. Two answers from the same model: where to invest operationally, and what to lead with in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classical classifier results. TF-IDF features — unigrams and bigrams — passed into a Linear SVM. Stratified 80-20 split, 2,569 training reviews and 643 in the held-out test set. Overall accuracy is 96.3 percent. But remember, 82 percent of reviews are positive, so accuracy can be misleading. The number that actually matters is the negative class F1, which came in at 0.89 — and recall on the negative class jumped from 0.55 with VADER to 0.82 here. That's a real lift. On the right is the confusion matrix. 523 positive reviews correctly identified, 96 negative reviews correctly identified. The model misses 21 negatives — calls them positive — and only false-alarms on 3 positives. I also benchmarked a GRU with frozen GloVe embeddings — that's the strip at the bottom — and it hit 94.7 percent accuracy with negative F1 of 0.85. Slightly worse than the SVM. The lesson: on short, polarized review text, bag-of-words is genuinely hard to beat. The neural model isn't worth the added complexity for this task. Operationally, the SVM is the right always-on classifier. When it says a review is negative, it's almost certainly right. That makes it a viable triage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find most actionable. These are the actual SVM coefficients — the words that drove positive and negative predictions, ranked. Look at the positive side: great, love, awesome, helpful, amazing, fun, welcoming. Almost all of these describe people and experiences. Customers don't get loud about prices when they love a school — they get loud about the coach, the vibe, and how welcomed they felt. Now the negative side: rude, told, cancel, money, business, contract, horrible, owner. These aren't words about training or technique. These are words about the front desk, about billing, about the cancellation conversation. When customers are unhappy, they almost never complain about the martial arts. They complain about the operations. That's a huge insight for an owner — because operations are something you can fix on Monday morning. Coaching takes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comparison across all six methods, sorted by F1 on the negative class — which is the metric that matters most given the class imbalance. Llama 3.2 with few-shot prompting is at the top with 0.95. The classical SVM is a strong second at 0.89. The GRU at 0.85. Llama zero-shot at 0.84. VADER at 0.77 on the same sample, and 0.68 on the full data. Three takeaways. First, Llama few-shot is best when context matters — it reads mixed sentiment that lexicon and bag-of-words methods miss. Second, the SVM is the right always-on default. It's fast, deterministic, the coefficients are interpretable, and it's only 0.06 behind the best LLM result on a metric where 0.89 is already excellent. Third, the GRU adds complexity without payoff. Bag-of-words is hard to beat on this kind of text. The deep-learning model wasn't worth the added training time. And honest disclosure: Llama and VADER were scored on a balanced 200-review sample; SVM and GRU on the full 643-review test set. The ordering is robust across both slices, but they're not perfectly apples-to-apples.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analysis turns into business decisions. Three insights a school owner could put to work this week. Insight one — marketing: lead with the coach, not the curriculum. The positive reviews are not about belt systems or technique syllabuses. They're about people and how a beginner felt walking in. So that's what the website, the landing page, the intro email, and the trial-class script should be built around. Insight two — retention: operational friction kills more memberships than bad classes do. Look at where the negative language lives. It's contracts, cancellations, billing, and front desk. Those are not pedagogy problems. Those are checklist problems. They get fixed by rewriting workflows, not by hiring better coaches. Insight three — measurement: use the model. With 82 percent recall on negatives from the SVM, and 95 percent F1 on the negative class from the LLM, an owner has both an always-on classifier for triage and an LLM for deeper extraction on flagged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a moment on why I built this and how I'm using it. I own Patriot Martial Arts Academy. We teach Brazilian Jiu-Jitsu and Machida Karate. It's a small school. Every enrollment matters and every member who churns out is felt directly in the next month's revenue. This project gave me four concrete things to do. First, audit my own intake script — compare what new students hear when they walk into Patriot to the language that drives positive reviews across 265 other schools. Second, rewrite the cancellation flow. That's the number one negative-review pattern in the industry. Even though it costs me a member, making the cancel path painless protects my reputation and keeps the door open for them to come back. Third, change my marketing. Less generic curriculum copy, more instructor stories. Fourth, run the classifier. As new reviews come in on Google and Yelp, score them and respond to anything flagged negative within 24 hours. That's a competitive advantage I can deploy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Three takeaways. One: coaching is the product. All four of my sentiment and topic methods converge on the same thing — customers come for instruction and atmosphere. The classical and modern approaches agree. Two: operations is the failure mode. BERTopic's topics-per-class view shows that one and two-star reviews cluster on contracts, billing, and the front desk — not training. Those are the levers an owner controls directly. Three: I now have a two-stage pipeline. The SVM at 0.89 F1 is the fast always-on triage classifier. Llama 3.2 with few-shot prompting at 0.95 F1 is the context-aware reader for flagged reviews — and a model that can extend to extraction prompts beyond binary sentiment. Honest about limitations. Yelp reviewers self-select, so these are directional findings. The LLM scoring used a 200-review balanced sample for runtime, while the SVM and GRU used the full 643-review test set — different slices, but the ordering is robust. Next step is the obvious one: deploy this pipeline on Patriot's own incoming Google and Yelp reviews.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548640" y="1097280"/>
            <a:ext cx="73152" cy="4572000"/>
          </a:xfrm>
          <a:prstGeom prst="rect">
            <a:avLst/>
          </a:prstGeom>
          <a:solidFill>
            <a:srgbClr val="14B8A6"/>
          </a:solidFill>
          <a:ln/>
        </p:spPr>
      </p:sp>
      <p:sp>
        <p:nvSpPr>
          <p:cNvPr id="3" name="Text 1"/>
          <p:cNvSpPr/>
          <p:nvPr/>
        </p:nvSpPr>
        <p:spPr>
          <a:xfrm>
            <a:off x="868680" y="1097280"/>
            <a:ext cx="10058400" cy="320040"/>
          </a:xfrm>
          <a:prstGeom prst="rect">
            <a:avLst/>
          </a:prstGeom>
          <a:noFill/>
          <a:ln/>
        </p:spPr>
        <p:txBody>
          <a:bodyPr wrap="square" lIns="0" tIns="0" rIns="0" bIns="0" rtlCol="0" anchor="ctr"/>
          <a:lstStyle/>
          <a:p>
            <a:pPr indent="0" marL="0">
              <a:buNone/>
            </a:pPr>
            <a:r>
              <a:rPr lang="en-US" sz="1200" b="1" spc="600" kern="0" dirty="0">
                <a:solidFill>
                  <a:srgbClr val="14B8A6"/>
                </a:solidFill>
                <a:latin typeface="Calibri" pitchFamily="34" charset="0"/>
                <a:ea typeface="Calibri" pitchFamily="34" charset="-122"/>
                <a:cs typeface="Calibri" pitchFamily="34" charset="-120"/>
              </a:rPr>
              <a:t>FINAL PROJECT  •  YELP DATA  •  NLP</a:t>
            </a:r>
            <a:endParaRPr lang="en-US" sz="1200" dirty="0"/>
          </a:p>
        </p:txBody>
      </p:sp>
      <p:sp>
        <p:nvSpPr>
          <p:cNvPr id="4" name="Text 2"/>
          <p:cNvSpPr/>
          <p:nvPr/>
        </p:nvSpPr>
        <p:spPr>
          <a:xfrm>
            <a:off x="868680" y="1554480"/>
            <a:ext cx="10424160" cy="21945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What Drives Enrollment Decisions in Martial Arts Schools?</a:t>
            </a:r>
            <a:endParaRPr lang="en-US" sz="4400" dirty="0"/>
          </a:p>
        </p:txBody>
      </p:sp>
      <p:sp>
        <p:nvSpPr>
          <p:cNvPr id="5" name="Text 3"/>
          <p:cNvSpPr/>
          <p:nvPr/>
        </p:nvSpPr>
        <p:spPr>
          <a:xfrm>
            <a:off x="868680" y="3886200"/>
            <a:ext cx="10424160" cy="731520"/>
          </a:xfrm>
          <a:prstGeom prst="rect">
            <a:avLst/>
          </a:prstGeom>
          <a:noFill/>
          <a:ln/>
        </p:spPr>
        <p:txBody>
          <a:bodyPr wrap="square" lIns="0" tIns="0" rIns="0" bIns="0" rtlCol="0" anchor="ctr"/>
          <a:lstStyle/>
          <a:p>
            <a:pPr indent="0" marL="0">
              <a:buNone/>
            </a:pPr>
            <a:r>
              <a:rPr lang="en-US" sz="1800" i="1" dirty="0">
                <a:solidFill>
                  <a:srgbClr val="CBD5E1"/>
                </a:solidFill>
                <a:latin typeface="Calibri" pitchFamily="34" charset="0"/>
                <a:ea typeface="Calibri" pitchFamily="34" charset="-122"/>
                <a:cs typeface="Calibri" pitchFamily="34" charset="-120"/>
              </a:rPr>
              <a:t>A natural language analysis of 3,212 Yelp reviews across 265 martial arts businesses.</a:t>
            </a:r>
            <a:endParaRPr lang="en-US" sz="1800" dirty="0"/>
          </a:p>
        </p:txBody>
      </p:sp>
      <p:sp>
        <p:nvSpPr>
          <p:cNvPr id="6" name="Text 4"/>
          <p:cNvSpPr/>
          <p:nvPr/>
        </p:nvSpPr>
        <p:spPr>
          <a:xfrm>
            <a:off x="868680" y="5120640"/>
            <a:ext cx="10058400" cy="12801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William Sandoval</a:t>
            </a:r>
            <a:endParaRPr lang="en-US" sz="1600" dirty="0"/>
          </a:p>
          <a:p>
            <a:pPr indent="0" marL="0">
              <a:buNone/>
            </a:pPr>
            <a:r>
              <a:rPr lang="en-US" sz="1300" dirty="0">
                <a:solidFill>
                  <a:srgbClr val="94A3B8"/>
                </a:solidFill>
                <a:latin typeface="Calibri" pitchFamily="34" charset="0"/>
                <a:ea typeface="Calibri" pitchFamily="34" charset="-122"/>
                <a:cs typeface="Calibri" pitchFamily="34" charset="-120"/>
              </a:rPr>
              <a:t>MS Applied Information Behavior  •  Arizona State University</a:t>
            </a:r>
            <a:endParaRPr lang="en-US" sz="1600" dirty="0"/>
          </a:p>
          <a:p>
            <a:pPr indent="0" marL="0">
              <a:buNone/>
            </a:pPr>
            <a:r>
              <a:rPr lang="en-US" sz="1200" i="1" dirty="0">
                <a:solidFill>
                  <a:srgbClr val="14B8A6"/>
                </a:solidFill>
                <a:latin typeface="Calibri" pitchFamily="34" charset="0"/>
                <a:ea typeface="Calibri" pitchFamily="34" charset="-122"/>
                <a:cs typeface="Calibri" pitchFamily="34" charset="-120"/>
              </a:rPr>
              <a:t>Owner, Patriot Martial Arts Academy  (BJJ + Machida Karate)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01  •  THE BUSINESS PROBLEM</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Owners are flying blind on what reviews actually say.</a:t>
            </a:r>
            <a:endParaRPr lang="en-US" sz="3000" dirty="0"/>
          </a:p>
        </p:txBody>
      </p:sp>
      <p:sp>
        <p:nvSpPr>
          <p:cNvPr id="4" name="Shape 2"/>
          <p:cNvSpPr/>
          <p:nvPr/>
        </p:nvSpPr>
        <p:spPr>
          <a:xfrm>
            <a:off x="457200" y="1645920"/>
            <a:ext cx="3611880" cy="4023360"/>
          </a:xfrm>
          <a:prstGeom prst="rect">
            <a:avLst/>
          </a:prstGeom>
          <a:solidFill>
            <a:srgbClr val="F8FAFC"/>
          </a:solidFill>
          <a:ln w="12700">
            <a:solidFill>
              <a:srgbClr val="E2E8F0"/>
            </a:solidFill>
            <a:prstDash val="solid"/>
          </a:ln>
        </p:spPr>
      </p:sp>
      <p:sp>
        <p:nvSpPr>
          <p:cNvPr id="5" name="Shape 3"/>
          <p:cNvSpPr/>
          <p:nvPr/>
        </p:nvSpPr>
        <p:spPr>
          <a:xfrm>
            <a:off x="457200" y="1645920"/>
            <a:ext cx="3611880" cy="73152"/>
          </a:xfrm>
          <a:prstGeom prst="rect">
            <a:avLst/>
          </a:prstGeom>
          <a:solidFill>
            <a:srgbClr val="0F766E"/>
          </a:solidFill>
          <a:ln/>
        </p:spPr>
      </p:sp>
      <p:sp>
        <p:nvSpPr>
          <p:cNvPr id="6" name="Shape 4"/>
          <p:cNvSpPr/>
          <p:nvPr/>
        </p:nvSpPr>
        <p:spPr>
          <a:xfrm>
            <a:off x="822960" y="2103120"/>
            <a:ext cx="731520" cy="731520"/>
          </a:xfrm>
          <a:prstGeom prst="ellipse">
            <a:avLst/>
          </a:prstGeom>
          <a:solidFill>
            <a:srgbClr val="0F766E"/>
          </a:solidFill>
          <a:ln/>
        </p:spPr>
      </p:sp>
      <p:sp>
        <p:nvSpPr>
          <p:cNvPr id="7" name="Text 5"/>
          <p:cNvSpPr/>
          <p:nvPr/>
        </p:nvSpPr>
        <p:spPr>
          <a:xfrm>
            <a:off x="822960" y="210312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822960" y="3063240"/>
            <a:ext cx="2880360" cy="365760"/>
          </a:xfrm>
          <a:prstGeom prst="rect">
            <a:avLst/>
          </a:prstGeom>
          <a:noFill/>
          <a:ln/>
        </p:spPr>
        <p:txBody>
          <a:bodyPr wrap="square" lIns="0" tIns="0" rIns="0" bIns="0" rtlCol="0" anchor="ctr"/>
          <a:lstStyle/>
          <a:p>
            <a:pPr indent="0" marL="0">
              <a:buNone/>
            </a:pPr>
            <a:r>
              <a:rPr lang="en-US" sz="1200" b="1" spc="400" kern="0" dirty="0">
                <a:solidFill>
                  <a:srgbClr val="0F766E"/>
                </a:solidFill>
                <a:latin typeface="Calibri" pitchFamily="34" charset="0"/>
                <a:ea typeface="Calibri" pitchFamily="34" charset="-122"/>
                <a:cs typeface="Calibri" pitchFamily="34" charset="-120"/>
              </a:rPr>
              <a:t>REVIEWS DRIVE TRIAL</a:t>
            </a:r>
            <a:endParaRPr lang="en-US" sz="1200" dirty="0"/>
          </a:p>
        </p:txBody>
      </p:sp>
      <p:sp>
        <p:nvSpPr>
          <p:cNvPr id="9" name="Text 7"/>
          <p:cNvSpPr/>
          <p:nvPr/>
        </p:nvSpPr>
        <p:spPr>
          <a:xfrm>
            <a:off x="822960" y="3474720"/>
            <a:ext cx="2880360" cy="201168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Most prospective students or parents read Yelp before they ever walk into a dojo. Reviews are the front door.</a:t>
            </a:r>
            <a:endParaRPr lang="en-US" sz="1400" dirty="0"/>
          </a:p>
        </p:txBody>
      </p:sp>
      <p:sp>
        <p:nvSpPr>
          <p:cNvPr id="10" name="Shape 8"/>
          <p:cNvSpPr/>
          <p:nvPr/>
        </p:nvSpPr>
        <p:spPr>
          <a:xfrm>
            <a:off x="4343400" y="1645920"/>
            <a:ext cx="3611880" cy="4023360"/>
          </a:xfrm>
          <a:prstGeom prst="rect">
            <a:avLst/>
          </a:prstGeom>
          <a:solidFill>
            <a:srgbClr val="F8FAFC"/>
          </a:solidFill>
          <a:ln w="12700">
            <a:solidFill>
              <a:srgbClr val="E2E8F0"/>
            </a:solidFill>
            <a:prstDash val="solid"/>
          </a:ln>
        </p:spPr>
      </p:sp>
      <p:sp>
        <p:nvSpPr>
          <p:cNvPr id="11" name="Shape 9"/>
          <p:cNvSpPr/>
          <p:nvPr/>
        </p:nvSpPr>
        <p:spPr>
          <a:xfrm>
            <a:off x="4343400" y="1645920"/>
            <a:ext cx="3611880" cy="73152"/>
          </a:xfrm>
          <a:prstGeom prst="rect">
            <a:avLst/>
          </a:prstGeom>
          <a:solidFill>
            <a:srgbClr val="0F766E"/>
          </a:solidFill>
          <a:ln/>
        </p:spPr>
      </p:sp>
      <p:sp>
        <p:nvSpPr>
          <p:cNvPr id="12" name="Shape 10"/>
          <p:cNvSpPr/>
          <p:nvPr/>
        </p:nvSpPr>
        <p:spPr>
          <a:xfrm>
            <a:off x="4709160" y="2103120"/>
            <a:ext cx="731520" cy="731520"/>
          </a:xfrm>
          <a:prstGeom prst="ellipse">
            <a:avLst/>
          </a:prstGeom>
          <a:solidFill>
            <a:srgbClr val="0F766E"/>
          </a:solidFill>
          <a:ln/>
        </p:spPr>
      </p:sp>
      <p:sp>
        <p:nvSpPr>
          <p:cNvPr id="13" name="Text 11"/>
          <p:cNvSpPr/>
          <p:nvPr/>
        </p:nvSpPr>
        <p:spPr>
          <a:xfrm>
            <a:off x="4709160" y="210312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4" name="Text 12"/>
          <p:cNvSpPr/>
          <p:nvPr/>
        </p:nvSpPr>
        <p:spPr>
          <a:xfrm>
            <a:off x="4709160" y="3063240"/>
            <a:ext cx="2880360" cy="365760"/>
          </a:xfrm>
          <a:prstGeom prst="rect">
            <a:avLst/>
          </a:prstGeom>
          <a:noFill/>
          <a:ln/>
        </p:spPr>
        <p:txBody>
          <a:bodyPr wrap="square" lIns="0" tIns="0" rIns="0" bIns="0" rtlCol="0" anchor="ctr"/>
          <a:lstStyle/>
          <a:p>
            <a:pPr indent="0" marL="0">
              <a:buNone/>
            </a:pPr>
            <a:r>
              <a:rPr lang="en-US" sz="1200" b="1" spc="400" kern="0" dirty="0">
                <a:solidFill>
                  <a:srgbClr val="0F766E"/>
                </a:solidFill>
                <a:latin typeface="Calibri" pitchFamily="34" charset="0"/>
                <a:ea typeface="Calibri" pitchFamily="34" charset="-122"/>
                <a:cs typeface="Calibri" pitchFamily="34" charset="-120"/>
              </a:rPr>
              <a:t>MARGINS ARE THIN</a:t>
            </a:r>
            <a:endParaRPr lang="en-US" sz="1200" dirty="0"/>
          </a:p>
        </p:txBody>
      </p:sp>
      <p:sp>
        <p:nvSpPr>
          <p:cNvPr id="15" name="Text 13"/>
          <p:cNvSpPr/>
          <p:nvPr/>
        </p:nvSpPr>
        <p:spPr>
          <a:xfrm>
            <a:off x="4709160" y="3474720"/>
            <a:ext cx="2880360" cy="201168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Martial arts schools compete on instructor quality, atmosphere, and trust — not price. One bad review pattern can stall growth.</a:t>
            </a:r>
            <a:endParaRPr lang="en-US" sz="1400" dirty="0"/>
          </a:p>
        </p:txBody>
      </p:sp>
      <p:sp>
        <p:nvSpPr>
          <p:cNvPr id="16" name="Shape 14"/>
          <p:cNvSpPr/>
          <p:nvPr/>
        </p:nvSpPr>
        <p:spPr>
          <a:xfrm>
            <a:off x="8229600" y="1645920"/>
            <a:ext cx="3611880" cy="4023360"/>
          </a:xfrm>
          <a:prstGeom prst="rect">
            <a:avLst/>
          </a:prstGeom>
          <a:solidFill>
            <a:srgbClr val="F8FAFC"/>
          </a:solidFill>
          <a:ln w="12700">
            <a:solidFill>
              <a:srgbClr val="E2E8F0"/>
            </a:solidFill>
            <a:prstDash val="solid"/>
          </a:ln>
        </p:spPr>
      </p:sp>
      <p:sp>
        <p:nvSpPr>
          <p:cNvPr id="17" name="Shape 15"/>
          <p:cNvSpPr/>
          <p:nvPr/>
        </p:nvSpPr>
        <p:spPr>
          <a:xfrm>
            <a:off x="8229600" y="1645920"/>
            <a:ext cx="3611880" cy="73152"/>
          </a:xfrm>
          <a:prstGeom prst="rect">
            <a:avLst/>
          </a:prstGeom>
          <a:solidFill>
            <a:srgbClr val="0F766E"/>
          </a:solidFill>
          <a:ln/>
        </p:spPr>
      </p:sp>
      <p:sp>
        <p:nvSpPr>
          <p:cNvPr id="18" name="Shape 16"/>
          <p:cNvSpPr/>
          <p:nvPr/>
        </p:nvSpPr>
        <p:spPr>
          <a:xfrm>
            <a:off x="8595360" y="2103120"/>
            <a:ext cx="731520" cy="731520"/>
          </a:xfrm>
          <a:prstGeom prst="ellipse">
            <a:avLst/>
          </a:prstGeom>
          <a:solidFill>
            <a:srgbClr val="0F766E"/>
          </a:solidFill>
          <a:ln/>
        </p:spPr>
      </p:sp>
      <p:sp>
        <p:nvSpPr>
          <p:cNvPr id="19" name="Text 17"/>
          <p:cNvSpPr/>
          <p:nvPr/>
        </p:nvSpPr>
        <p:spPr>
          <a:xfrm>
            <a:off x="8595360" y="210312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20" name="Text 18"/>
          <p:cNvSpPr/>
          <p:nvPr/>
        </p:nvSpPr>
        <p:spPr>
          <a:xfrm>
            <a:off x="8595360" y="3063240"/>
            <a:ext cx="2880360" cy="365760"/>
          </a:xfrm>
          <a:prstGeom prst="rect">
            <a:avLst/>
          </a:prstGeom>
          <a:noFill/>
          <a:ln/>
        </p:spPr>
        <p:txBody>
          <a:bodyPr wrap="square" lIns="0" tIns="0" rIns="0" bIns="0" rtlCol="0" anchor="ctr"/>
          <a:lstStyle/>
          <a:p>
            <a:pPr indent="0" marL="0">
              <a:buNone/>
            </a:pPr>
            <a:r>
              <a:rPr lang="en-US" sz="1200" b="1" spc="400" kern="0" dirty="0">
                <a:solidFill>
                  <a:srgbClr val="0F766E"/>
                </a:solidFill>
                <a:latin typeface="Calibri" pitchFamily="34" charset="0"/>
                <a:ea typeface="Calibri" pitchFamily="34" charset="-122"/>
                <a:cs typeface="Calibri" pitchFamily="34" charset="-120"/>
              </a:rPr>
              <a:t>SIGNALS ARE BURIED</a:t>
            </a:r>
            <a:endParaRPr lang="en-US" sz="1200" dirty="0"/>
          </a:p>
        </p:txBody>
      </p:sp>
      <p:sp>
        <p:nvSpPr>
          <p:cNvPr id="21" name="Text 19"/>
          <p:cNvSpPr/>
          <p:nvPr/>
        </p:nvSpPr>
        <p:spPr>
          <a:xfrm>
            <a:off x="8595360" y="3474720"/>
            <a:ext cx="2880360" cy="201168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Owners read reviews one at a time. The themes that repeat across hundreds of reviews are invisible without text analysis.</a:t>
            </a:r>
            <a:endParaRPr lang="en-US" sz="1400" dirty="0"/>
          </a:p>
        </p:txBody>
      </p:sp>
      <p:sp>
        <p:nvSpPr>
          <p:cNvPr id="22" name="Text 20"/>
          <p:cNvSpPr/>
          <p:nvPr/>
        </p:nvSpPr>
        <p:spPr>
          <a:xfrm>
            <a:off x="457200" y="5897880"/>
            <a:ext cx="11247120" cy="457200"/>
          </a:xfrm>
          <a:prstGeom prst="rect">
            <a:avLst/>
          </a:prstGeom>
          <a:noFill/>
          <a:ln/>
        </p:spPr>
        <p:txBody>
          <a:bodyPr wrap="square" lIns="0" tIns="0" rIns="0" bIns="0" rtlCol="0" anchor="ctr"/>
          <a:lstStyle/>
          <a:p>
            <a:pPr algn="ctr" indent="0" marL="0">
              <a:buNone/>
            </a:pPr>
            <a:r>
              <a:rPr lang="en-US" sz="1400" i="1" dirty="0">
                <a:solidFill>
                  <a:srgbClr val="64748B"/>
                </a:solidFill>
                <a:latin typeface="Calibri" pitchFamily="34" charset="0"/>
                <a:ea typeface="Calibri" pitchFamily="34" charset="-122"/>
                <a:cs typeface="Calibri" pitchFamily="34" charset="-120"/>
              </a:rPr>
              <a:t>If reviews are the front door, then the language inside them is the door handle. We need to read it at scale.</a:t>
            </a:r>
            <a:endParaRPr lang="en-US" sz="1400" dirty="0"/>
          </a:p>
        </p:txBody>
      </p:sp>
      <p:sp>
        <p:nvSpPr>
          <p:cNvPr id="23" name="Text 21"/>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24" name="Text 22"/>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02  •  FRAMING</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Research question and what success looks like</a:t>
            </a:r>
            <a:endParaRPr lang="en-US" sz="3000" dirty="0"/>
          </a:p>
        </p:txBody>
      </p:sp>
      <p:sp>
        <p:nvSpPr>
          <p:cNvPr id="4" name="Shape 2"/>
          <p:cNvSpPr/>
          <p:nvPr/>
        </p:nvSpPr>
        <p:spPr>
          <a:xfrm>
            <a:off x="457200" y="1554480"/>
            <a:ext cx="11247120" cy="1554480"/>
          </a:xfrm>
          <a:prstGeom prst="rect">
            <a:avLst/>
          </a:prstGeom>
          <a:solidFill>
            <a:srgbClr val="1F2937"/>
          </a:solidFill>
          <a:ln/>
        </p:spPr>
      </p:sp>
      <p:sp>
        <p:nvSpPr>
          <p:cNvPr id="5" name="Shape 3"/>
          <p:cNvSpPr/>
          <p:nvPr/>
        </p:nvSpPr>
        <p:spPr>
          <a:xfrm>
            <a:off x="457200" y="1554480"/>
            <a:ext cx="109728" cy="1554480"/>
          </a:xfrm>
          <a:prstGeom prst="rect">
            <a:avLst/>
          </a:prstGeom>
          <a:solidFill>
            <a:srgbClr val="14B8A6"/>
          </a:solidFill>
          <a:ln/>
        </p:spPr>
      </p:sp>
      <p:sp>
        <p:nvSpPr>
          <p:cNvPr id="6" name="Text 4"/>
          <p:cNvSpPr/>
          <p:nvPr/>
        </p:nvSpPr>
        <p:spPr>
          <a:xfrm>
            <a:off x="777240" y="1691640"/>
            <a:ext cx="10972800" cy="274320"/>
          </a:xfrm>
          <a:prstGeom prst="rect">
            <a:avLst/>
          </a:prstGeom>
          <a:noFill/>
          <a:ln/>
        </p:spPr>
        <p:txBody>
          <a:bodyPr wrap="square" lIns="0" tIns="0" rIns="0" bIns="0" rtlCol="0" anchor="ctr"/>
          <a:lstStyle/>
          <a:p>
            <a:pPr indent="0" marL="0">
              <a:buNone/>
            </a:pPr>
            <a:r>
              <a:rPr lang="en-US" sz="1100" b="1" spc="400" kern="0" dirty="0">
                <a:solidFill>
                  <a:srgbClr val="14B8A6"/>
                </a:solidFill>
                <a:latin typeface="Calibri" pitchFamily="34" charset="0"/>
                <a:ea typeface="Calibri" pitchFamily="34" charset="-122"/>
                <a:cs typeface="Calibri" pitchFamily="34" charset="-120"/>
              </a:rPr>
              <a:t>RESEARCH QUESTION</a:t>
            </a:r>
            <a:endParaRPr lang="en-US" sz="1100" dirty="0"/>
          </a:p>
        </p:txBody>
      </p:sp>
      <p:sp>
        <p:nvSpPr>
          <p:cNvPr id="7" name="Text 5"/>
          <p:cNvSpPr/>
          <p:nvPr/>
        </p:nvSpPr>
        <p:spPr>
          <a:xfrm>
            <a:off x="777240" y="2011680"/>
            <a:ext cx="10972800" cy="1005840"/>
          </a:xfrm>
          <a:prstGeom prst="rect">
            <a:avLst/>
          </a:prstGeom>
          <a:noFill/>
          <a:ln/>
        </p:spPr>
        <p:txBody>
          <a:bodyPr wrap="square" lIns="0" tIns="0" rIns="0" bIns="0" rtlCol="0" anchor="ctr"/>
          <a:lstStyle/>
          <a:p>
            <a:pPr indent="0" marL="0">
              <a:buNone/>
            </a:pPr>
            <a:r>
              <a:rPr lang="en-US" sz="2200" i="1" dirty="0">
                <a:solidFill>
                  <a:srgbClr val="FFFFFF"/>
                </a:solidFill>
                <a:latin typeface="Calibri" pitchFamily="34" charset="0"/>
                <a:ea typeface="Calibri" pitchFamily="34" charset="-122"/>
                <a:cs typeface="Calibri" pitchFamily="34" charset="-120"/>
              </a:rPr>
              <a:t>What factors in Yelp reviews influence a customer's decision to enroll in a martial arts school?</a:t>
            </a:r>
            <a:endParaRPr lang="en-US" sz="2200" dirty="0"/>
          </a:p>
        </p:txBody>
      </p:sp>
      <p:sp>
        <p:nvSpPr>
          <p:cNvPr id="8" name="Text 6"/>
          <p:cNvSpPr/>
          <p:nvPr/>
        </p:nvSpPr>
        <p:spPr>
          <a:xfrm>
            <a:off x="457200" y="3520440"/>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WHAT A USEFUL ANSWER LOOKS LIKE</a:t>
            </a:r>
            <a:endParaRPr lang="en-US" sz="1100" dirty="0"/>
          </a:p>
        </p:txBody>
      </p:sp>
      <p:sp>
        <p:nvSpPr>
          <p:cNvPr id="9" name="Shape 7"/>
          <p:cNvSpPr/>
          <p:nvPr/>
        </p:nvSpPr>
        <p:spPr>
          <a:xfrm>
            <a:off x="457200" y="3931920"/>
            <a:ext cx="3611880" cy="2011680"/>
          </a:xfrm>
          <a:prstGeom prst="rect">
            <a:avLst/>
          </a:prstGeom>
          <a:solidFill>
            <a:srgbClr val="F8FAFC"/>
          </a:solidFill>
          <a:ln w="12700">
            <a:solidFill>
              <a:srgbClr val="E2E8F0"/>
            </a:solidFill>
            <a:prstDash val="solid"/>
          </a:ln>
        </p:spPr>
      </p:sp>
      <p:sp>
        <p:nvSpPr>
          <p:cNvPr id="10" name="Shape 8"/>
          <p:cNvSpPr/>
          <p:nvPr/>
        </p:nvSpPr>
        <p:spPr>
          <a:xfrm>
            <a:off x="731520" y="4206240"/>
            <a:ext cx="502920" cy="502920"/>
          </a:xfrm>
          <a:prstGeom prst="ellipse">
            <a:avLst/>
          </a:prstGeom>
          <a:solidFill>
            <a:srgbClr val="CCFBF1"/>
          </a:solidFill>
          <a:ln/>
        </p:spPr>
      </p:sp>
      <p:sp>
        <p:nvSpPr>
          <p:cNvPr id="11" name="Text 9"/>
          <p:cNvSpPr/>
          <p:nvPr/>
        </p:nvSpPr>
        <p:spPr>
          <a:xfrm>
            <a:off x="731520" y="4206240"/>
            <a:ext cx="5029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1</a:t>
            </a:r>
            <a:endParaRPr lang="en-US" sz="1600" dirty="0"/>
          </a:p>
        </p:txBody>
      </p:sp>
      <p:sp>
        <p:nvSpPr>
          <p:cNvPr id="12" name="Text 10"/>
          <p:cNvSpPr/>
          <p:nvPr/>
        </p:nvSpPr>
        <p:spPr>
          <a:xfrm>
            <a:off x="1371600" y="4224528"/>
            <a:ext cx="2514600" cy="45720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Themes that repeat</a:t>
            </a:r>
            <a:endParaRPr lang="en-US" sz="1500" dirty="0"/>
          </a:p>
        </p:txBody>
      </p:sp>
      <p:sp>
        <p:nvSpPr>
          <p:cNvPr id="13" name="Text 11"/>
          <p:cNvSpPr/>
          <p:nvPr/>
        </p:nvSpPr>
        <p:spPr>
          <a:xfrm>
            <a:off x="731520" y="4846320"/>
            <a:ext cx="3063240" cy="10058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Identify the recurring topics customers actually write about — not what we assume they care about.</a:t>
            </a:r>
            <a:endParaRPr lang="en-US" sz="1200" dirty="0"/>
          </a:p>
        </p:txBody>
      </p:sp>
      <p:sp>
        <p:nvSpPr>
          <p:cNvPr id="14" name="Shape 12"/>
          <p:cNvSpPr/>
          <p:nvPr/>
        </p:nvSpPr>
        <p:spPr>
          <a:xfrm>
            <a:off x="4343400" y="3931920"/>
            <a:ext cx="3611880" cy="2011680"/>
          </a:xfrm>
          <a:prstGeom prst="rect">
            <a:avLst/>
          </a:prstGeom>
          <a:solidFill>
            <a:srgbClr val="F8FAFC"/>
          </a:solidFill>
          <a:ln w="12700">
            <a:solidFill>
              <a:srgbClr val="E2E8F0"/>
            </a:solidFill>
            <a:prstDash val="solid"/>
          </a:ln>
        </p:spPr>
      </p:sp>
      <p:sp>
        <p:nvSpPr>
          <p:cNvPr id="15" name="Shape 13"/>
          <p:cNvSpPr/>
          <p:nvPr/>
        </p:nvSpPr>
        <p:spPr>
          <a:xfrm>
            <a:off x="4617720" y="4206240"/>
            <a:ext cx="502920" cy="502920"/>
          </a:xfrm>
          <a:prstGeom prst="ellipse">
            <a:avLst/>
          </a:prstGeom>
          <a:solidFill>
            <a:srgbClr val="CCFBF1"/>
          </a:solidFill>
          <a:ln/>
        </p:spPr>
      </p:sp>
      <p:sp>
        <p:nvSpPr>
          <p:cNvPr id="16" name="Text 14"/>
          <p:cNvSpPr/>
          <p:nvPr/>
        </p:nvSpPr>
        <p:spPr>
          <a:xfrm>
            <a:off x="4617720" y="4206240"/>
            <a:ext cx="5029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5257800" y="4224528"/>
            <a:ext cx="2514600" cy="45720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Sentiment we can act on</a:t>
            </a:r>
            <a:endParaRPr lang="en-US" sz="1500" dirty="0"/>
          </a:p>
        </p:txBody>
      </p:sp>
      <p:sp>
        <p:nvSpPr>
          <p:cNvPr id="18" name="Text 16"/>
          <p:cNvSpPr/>
          <p:nvPr/>
        </p:nvSpPr>
        <p:spPr>
          <a:xfrm>
            <a:off x="4617720" y="4846320"/>
            <a:ext cx="3063240" cy="10058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Separate the language of satisfaction from the language of dissatisfaction; locate the operational gaps.</a:t>
            </a:r>
            <a:endParaRPr lang="en-US" sz="1200" dirty="0"/>
          </a:p>
        </p:txBody>
      </p:sp>
      <p:sp>
        <p:nvSpPr>
          <p:cNvPr id="19" name="Shape 17"/>
          <p:cNvSpPr/>
          <p:nvPr/>
        </p:nvSpPr>
        <p:spPr>
          <a:xfrm>
            <a:off x="8229600" y="3931920"/>
            <a:ext cx="3611880" cy="2011680"/>
          </a:xfrm>
          <a:prstGeom prst="rect">
            <a:avLst/>
          </a:prstGeom>
          <a:solidFill>
            <a:srgbClr val="F8FAFC"/>
          </a:solidFill>
          <a:ln w="12700">
            <a:solidFill>
              <a:srgbClr val="E2E8F0"/>
            </a:solidFill>
            <a:prstDash val="solid"/>
          </a:ln>
        </p:spPr>
      </p:sp>
      <p:sp>
        <p:nvSpPr>
          <p:cNvPr id="20" name="Shape 18"/>
          <p:cNvSpPr/>
          <p:nvPr/>
        </p:nvSpPr>
        <p:spPr>
          <a:xfrm>
            <a:off x="8503920" y="4206240"/>
            <a:ext cx="502920" cy="502920"/>
          </a:xfrm>
          <a:prstGeom prst="ellipse">
            <a:avLst/>
          </a:prstGeom>
          <a:solidFill>
            <a:srgbClr val="CCFBF1"/>
          </a:solidFill>
          <a:ln/>
        </p:spPr>
      </p:sp>
      <p:sp>
        <p:nvSpPr>
          <p:cNvPr id="21" name="Text 19"/>
          <p:cNvSpPr/>
          <p:nvPr/>
        </p:nvSpPr>
        <p:spPr>
          <a:xfrm>
            <a:off x="8503920" y="4206240"/>
            <a:ext cx="5029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3</a:t>
            </a:r>
            <a:endParaRPr lang="en-US" sz="1600" dirty="0"/>
          </a:p>
        </p:txBody>
      </p:sp>
      <p:sp>
        <p:nvSpPr>
          <p:cNvPr id="22" name="Text 20"/>
          <p:cNvSpPr/>
          <p:nvPr/>
        </p:nvSpPr>
        <p:spPr>
          <a:xfrm>
            <a:off x="9144000" y="4224528"/>
            <a:ext cx="2514600" cy="45720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 model we can re-run</a:t>
            </a:r>
            <a:endParaRPr lang="en-US" sz="1500" dirty="0"/>
          </a:p>
        </p:txBody>
      </p:sp>
      <p:sp>
        <p:nvSpPr>
          <p:cNvPr id="23" name="Text 21"/>
          <p:cNvSpPr/>
          <p:nvPr/>
        </p:nvSpPr>
        <p:spPr>
          <a:xfrm>
            <a:off x="8503920" y="4846320"/>
            <a:ext cx="3063240" cy="10058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Build a classifier accurate enough that a school can score new reviews as they come in.</a:t>
            </a:r>
            <a:endParaRPr lang="en-US" sz="1200" dirty="0"/>
          </a:p>
        </p:txBody>
      </p:sp>
      <p:sp>
        <p:nvSpPr>
          <p:cNvPr id="24" name="Text 22"/>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25" name="Text 23"/>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03  •  DATA</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The dataset: Yelp Open Dataset, filtered to martial arts</a:t>
            </a:r>
            <a:endParaRPr lang="en-US" sz="3000" dirty="0"/>
          </a:p>
        </p:txBody>
      </p:sp>
      <p:sp>
        <p:nvSpPr>
          <p:cNvPr id="4" name="Shape 2"/>
          <p:cNvSpPr/>
          <p:nvPr/>
        </p:nvSpPr>
        <p:spPr>
          <a:xfrm>
            <a:off x="457200" y="1554480"/>
            <a:ext cx="2697480" cy="1554480"/>
          </a:xfrm>
          <a:prstGeom prst="rect">
            <a:avLst/>
          </a:prstGeom>
          <a:solidFill>
            <a:srgbClr val="CCFBF1"/>
          </a:solidFill>
          <a:ln/>
        </p:spPr>
      </p:sp>
      <p:sp>
        <p:nvSpPr>
          <p:cNvPr id="5" name="Text 3"/>
          <p:cNvSpPr/>
          <p:nvPr/>
        </p:nvSpPr>
        <p:spPr>
          <a:xfrm>
            <a:off x="457200" y="1691640"/>
            <a:ext cx="2697480" cy="868680"/>
          </a:xfrm>
          <a:prstGeom prst="rect">
            <a:avLst/>
          </a:prstGeom>
          <a:noFill/>
          <a:ln/>
        </p:spPr>
        <p:txBody>
          <a:bodyPr wrap="square" lIns="0" tIns="0" rIns="0" bIns="0" rtlCol="0" anchor="ctr"/>
          <a:lstStyle/>
          <a:p>
            <a:pPr algn="ctr" indent="0" marL="0">
              <a:buNone/>
            </a:pPr>
            <a:r>
              <a:rPr lang="en-US" sz="4800" b="1" dirty="0">
                <a:solidFill>
                  <a:srgbClr val="0F766E"/>
                </a:solidFill>
                <a:latin typeface="Calibri" pitchFamily="34" charset="0"/>
                <a:ea typeface="Calibri" pitchFamily="34" charset="-122"/>
                <a:cs typeface="Calibri" pitchFamily="34" charset="-120"/>
              </a:rPr>
              <a:t>265</a:t>
            </a:r>
            <a:endParaRPr lang="en-US" sz="4800" dirty="0"/>
          </a:p>
        </p:txBody>
      </p:sp>
      <p:sp>
        <p:nvSpPr>
          <p:cNvPr id="6" name="Text 4"/>
          <p:cNvSpPr/>
          <p:nvPr/>
        </p:nvSpPr>
        <p:spPr>
          <a:xfrm>
            <a:off x="457200" y="2514600"/>
            <a:ext cx="2697480" cy="548640"/>
          </a:xfrm>
          <a:prstGeom prst="rect">
            <a:avLst/>
          </a:prstGeom>
          <a:noFill/>
          <a:ln/>
        </p:spPr>
        <p:txBody>
          <a:bodyPr wrap="square" lIns="0" tIns="0" rIns="0" bIns="0" rtlCol="0" anchor="t"/>
          <a:lstStyle/>
          <a:p>
            <a:pPr algn="ctr" indent="0" marL="0">
              <a:buNone/>
            </a:pPr>
            <a:r>
              <a:rPr lang="en-US" sz="1100" b="1" spc="300" kern="0" dirty="0">
                <a:solidFill>
                  <a:srgbClr val="1F2937"/>
                </a:solidFill>
                <a:latin typeface="Calibri" pitchFamily="34" charset="0"/>
                <a:ea typeface="Calibri" pitchFamily="34" charset="-122"/>
                <a:cs typeface="Calibri" pitchFamily="34" charset="-120"/>
              </a:rPr>
              <a:t>MARTIAL ARTS</a:t>
            </a:r>
            <a:endParaRPr lang="en-US" sz="1100" dirty="0"/>
          </a:p>
          <a:p>
            <a:pPr algn="ctr" indent="0" marL="0">
              <a:buNone/>
            </a:pPr>
            <a:r>
              <a:rPr lang="en-US" sz="1100" b="1" spc="300" kern="0" dirty="0">
                <a:solidFill>
                  <a:srgbClr val="1F2937"/>
                </a:solidFill>
                <a:latin typeface="Calibri" pitchFamily="34" charset="0"/>
                <a:ea typeface="Calibri" pitchFamily="34" charset="-122"/>
                <a:cs typeface="Calibri" pitchFamily="34" charset="-120"/>
              </a:rPr>
              <a:t>BUSINESSES</a:t>
            </a:r>
            <a:endParaRPr lang="en-US" sz="1100" dirty="0"/>
          </a:p>
        </p:txBody>
      </p:sp>
      <p:sp>
        <p:nvSpPr>
          <p:cNvPr id="7" name="Shape 5"/>
          <p:cNvSpPr/>
          <p:nvPr/>
        </p:nvSpPr>
        <p:spPr>
          <a:xfrm>
            <a:off x="3337560" y="1554480"/>
            <a:ext cx="2697480" cy="1554480"/>
          </a:xfrm>
          <a:prstGeom prst="rect">
            <a:avLst/>
          </a:prstGeom>
          <a:solidFill>
            <a:srgbClr val="CCFBF1"/>
          </a:solidFill>
          <a:ln/>
        </p:spPr>
      </p:sp>
      <p:sp>
        <p:nvSpPr>
          <p:cNvPr id="8" name="Text 6"/>
          <p:cNvSpPr/>
          <p:nvPr/>
        </p:nvSpPr>
        <p:spPr>
          <a:xfrm>
            <a:off x="3337560" y="1691640"/>
            <a:ext cx="2697480" cy="868680"/>
          </a:xfrm>
          <a:prstGeom prst="rect">
            <a:avLst/>
          </a:prstGeom>
          <a:noFill/>
          <a:ln/>
        </p:spPr>
        <p:txBody>
          <a:bodyPr wrap="square" lIns="0" tIns="0" rIns="0" bIns="0" rtlCol="0" anchor="ctr"/>
          <a:lstStyle/>
          <a:p>
            <a:pPr algn="ctr" indent="0" marL="0">
              <a:buNone/>
            </a:pPr>
            <a:r>
              <a:rPr lang="en-US" sz="4800" b="1" dirty="0">
                <a:solidFill>
                  <a:srgbClr val="0F766E"/>
                </a:solidFill>
                <a:latin typeface="Calibri" pitchFamily="34" charset="0"/>
                <a:ea typeface="Calibri" pitchFamily="34" charset="-122"/>
                <a:cs typeface="Calibri" pitchFamily="34" charset="-120"/>
              </a:rPr>
              <a:t>3,212</a:t>
            </a:r>
            <a:endParaRPr lang="en-US" sz="4800" dirty="0"/>
          </a:p>
        </p:txBody>
      </p:sp>
      <p:sp>
        <p:nvSpPr>
          <p:cNvPr id="9" name="Text 7"/>
          <p:cNvSpPr/>
          <p:nvPr/>
        </p:nvSpPr>
        <p:spPr>
          <a:xfrm>
            <a:off x="3337560" y="2514600"/>
            <a:ext cx="2697480" cy="548640"/>
          </a:xfrm>
          <a:prstGeom prst="rect">
            <a:avLst/>
          </a:prstGeom>
          <a:noFill/>
          <a:ln/>
        </p:spPr>
        <p:txBody>
          <a:bodyPr wrap="square" lIns="0" tIns="0" rIns="0" bIns="0" rtlCol="0" anchor="t"/>
          <a:lstStyle/>
          <a:p>
            <a:pPr algn="ctr" indent="0" marL="0">
              <a:buNone/>
            </a:pPr>
            <a:r>
              <a:rPr lang="en-US" sz="1100" b="1" spc="300" kern="0" dirty="0">
                <a:solidFill>
                  <a:srgbClr val="1F2937"/>
                </a:solidFill>
                <a:latin typeface="Calibri" pitchFamily="34" charset="0"/>
                <a:ea typeface="Calibri" pitchFamily="34" charset="-122"/>
                <a:cs typeface="Calibri" pitchFamily="34" charset="-120"/>
              </a:rPr>
              <a:t>REVIEWS</a:t>
            </a:r>
            <a:endParaRPr lang="en-US" sz="1100" dirty="0"/>
          </a:p>
          <a:p>
            <a:pPr algn="ctr" indent="0" marL="0">
              <a:buNone/>
            </a:pPr>
            <a:r>
              <a:rPr lang="en-US" sz="1100" b="1" spc="300" kern="0" dirty="0">
                <a:solidFill>
                  <a:srgbClr val="1F2937"/>
                </a:solidFill>
                <a:latin typeface="Calibri" pitchFamily="34" charset="0"/>
                <a:ea typeface="Calibri" pitchFamily="34" charset="-122"/>
                <a:cs typeface="Calibri" pitchFamily="34" charset="-120"/>
              </a:rPr>
              <a:t>(after cleaning)</a:t>
            </a:r>
            <a:endParaRPr lang="en-US" sz="1100" dirty="0"/>
          </a:p>
        </p:txBody>
      </p:sp>
      <p:sp>
        <p:nvSpPr>
          <p:cNvPr id="10" name="Shape 8"/>
          <p:cNvSpPr/>
          <p:nvPr/>
        </p:nvSpPr>
        <p:spPr>
          <a:xfrm>
            <a:off x="6217920" y="1554480"/>
            <a:ext cx="2697480" cy="1554480"/>
          </a:xfrm>
          <a:prstGeom prst="rect">
            <a:avLst/>
          </a:prstGeom>
          <a:solidFill>
            <a:srgbClr val="CCFBF1"/>
          </a:solidFill>
          <a:ln/>
        </p:spPr>
      </p:sp>
      <p:sp>
        <p:nvSpPr>
          <p:cNvPr id="11" name="Text 9"/>
          <p:cNvSpPr/>
          <p:nvPr/>
        </p:nvSpPr>
        <p:spPr>
          <a:xfrm>
            <a:off x="6217920" y="1691640"/>
            <a:ext cx="2697480" cy="868680"/>
          </a:xfrm>
          <a:prstGeom prst="rect">
            <a:avLst/>
          </a:prstGeom>
          <a:noFill/>
          <a:ln/>
        </p:spPr>
        <p:txBody>
          <a:bodyPr wrap="square" lIns="0" tIns="0" rIns="0" bIns="0" rtlCol="0" anchor="ctr"/>
          <a:lstStyle/>
          <a:p>
            <a:pPr algn="ctr" indent="0" marL="0">
              <a:buNone/>
            </a:pPr>
            <a:r>
              <a:rPr lang="en-US" sz="4800" b="1" dirty="0">
                <a:solidFill>
                  <a:srgbClr val="0F766E"/>
                </a:solidFill>
                <a:latin typeface="Calibri" pitchFamily="34" charset="0"/>
                <a:ea typeface="Calibri" pitchFamily="34" charset="-122"/>
                <a:cs typeface="Calibri" pitchFamily="34" charset="-120"/>
              </a:rPr>
              <a:t>4.22</a:t>
            </a:r>
            <a:endParaRPr lang="en-US" sz="4800" dirty="0"/>
          </a:p>
        </p:txBody>
      </p:sp>
      <p:sp>
        <p:nvSpPr>
          <p:cNvPr id="12" name="Text 10"/>
          <p:cNvSpPr/>
          <p:nvPr/>
        </p:nvSpPr>
        <p:spPr>
          <a:xfrm>
            <a:off x="6217920" y="2514600"/>
            <a:ext cx="2697480" cy="548640"/>
          </a:xfrm>
          <a:prstGeom prst="rect">
            <a:avLst/>
          </a:prstGeom>
          <a:noFill/>
          <a:ln/>
        </p:spPr>
        <p:txBody>
          <a:bodyPr wrap="square" lIns="0" tIns="0" rIns="0" bIns="0" rtlCol="0" anchor="t"/>
          <a:lstStyle/>
          <a:p>
            <a:pPr algn="ctr" indent="0" marL="0">
              <a:buNone/>
            </a:pPr>
            <a:r>
              <a:rPr lang="en-US" sz="1100" b="1" spc="300" kern="0" dirty="0">
                <a:solidFill>
                  <a:srgbClr val="1F2937"/>
                </a:solidFill>
                <a:latin typeface="Calibri" pitchFamily="34" charset="0"/>
                <a:ea typeface="Calibri" pitchFamily="34" charset="-122"/>
                <a:cs typeface="Calibri" pitchFamily="34" charset="-120"/>
              </a:rPr>
              <a:t>AVG STAR</a:t>
            </a:r>
            <a:endParaRPr lang="en-US" sz="1100" dirty="0"/>
          </a:p>
          <a:p>
            <a:pPr algn="ctr" indent="0" marL="0">
              <a:buNone/>
            </a:pPr>
            <a:r>
              <a:rPr lang="en-US" sz="1100" b="1" spc="300" kern="0" dirty="0">
                <a:solidFill>
                  <a:srgbClr val="1F2937"/>
                </a:solidFill>
                <a:latin typeface="Calibri" pitchFamily="34" charset="0"/>
                <a:ea typeface="Calibri" pitchFamily="34" charset="-122"/>
                <a:cs typeface="Calibri" pitchFamily="34" charset="-120"/>
              </a:rPr>
              <a:t>RATING</a:t>
            </a:r>
            <a:endParaRPr lang="en-US" sz="1100" dirty="0"/>
          </a:p>
        </p:txBody>
      </p:sp>
      <p:sp>
        <p:nvSpPr>
          <p:cNvPr id="13" name="Shape 11"/>
          <p:cNvSpPr/>
          <p:nvPr/>
        </p:nvSpPr>
        <p:spPr>
          <a:xfrm>
            <a:off x="9098280" y="1554480"/>
            <a:ext cx="2697480" cy="1554480"/>
          </a:xfrm>
          <a:prstGeom prst="rect">
            <a:avLst/>
          </a:prstGeom>
          <a:solidFill>
            <a:srgbClr val="CCFBF1"/>
          </a:solidFill>
          <a:ln/>
        </p:spPr>
      </p:sp>
      <p:sp>
        <p:nvSpPr>
          <p:cNvPr id="14" name="Text 12"/>
          <p:cNvSpPr/>
          <p:nvPr/>
        </p:nvSpPr>
        <p:spPr>
          <a:xfrm>
            <a:off x="9098280" y="1691640"/>
            <a:ext cx="2697480" cy="868680"/>
          </a:xfrm>
          <a:prstGeom prst="rect">
            <a:avLst/>
          </a:prstGeom>
          <a:noFill/>
          <a:ln/>
        </p:spPr>
        <p:txBody>
          <a:bodyPr wrap="square" lIns="0" tIns="0" rIns="0" bIns="0" rtlCol="0" anchor="ctr"/>
          <a:lstStyle/>
          <a:p>
            <a:pPr algn="ctr" indent="0" marL="0">
              <a:buNone/>
            </a:pPr>
            <a:r>
              <a:rPr lang="en-US" sz="4800" b="1" dirty="0">
                <a:solidFill>
                  <a:srgbClr val="0F766E"/>
                </a:solidFill>
                <a:latin typeface="Calibri" pitchFamily="34" charset="0"/>
                <a:ea typeface="Calibri" pitchFamily="34" charset="-122"/>
                <a:cs typeface="Calibri" pitchFamily="34" charset="-120"/>
              </a:rPr>
              <a:t>122</a:t>
            </a:r>
            <a:endParaRPr lang="en-US" sz="4800" dirty="0"/>
          </a:p>
        </p:txBody>
      </p:sp>
      <p:sp>
        <p:nvSpPr>
          <p:cNvPr id="15" name="Text 13"/>
          <p:cNvSpPr/>
          <p:nvPr/>
        </p:nvSpPr>
        <p:spPr>
          <a:xfrm>
            <a:off x="9098280" y="2514600"/>
            <a:ext cx="2697480" cy="548640"/>
          </a:xfrm>
          <a:prstGeom prst="rect">
            <a:avLst/>
          </a:prstGeom>
          <a:noFill/>
          <a:ln/>
        </p:spPr>
        <p:txBody>
          <a:bodyPr wrap="square" lIns="0" tIns="0" rIns="0" bIns="0" rtlCol="0" anchor="t"/>
          <a:lstStyle/>
          <a:p>
            <a:pPr algn="ctr" indent="0" marL="0">
              <a:buNone/>
            </a:pPr>
            <a:r>
              <a:rPr lang="en-US" sz="1100" b="1" spc="300" kern="0" dirty="0">
                <a:solidFill>
                  <a:srgbClr val="1F2937"/>
                </a:solidFill>
                <a:latin typeface="Calibri" pitchFamily="34" charset="0"/>
                <a:ea typeface="Calibri" pitchFamily="34" charset="-122"/>
                <a:cs typeface="Calibri" pitchFamily="34" charset="-120"/>
              </a:rPr>
              <a:t>AVG WORDS</a:t>
            </a:r>
            <a:endParaRPr lang="en-US" sz="1100" dirty="0"/>
          </a:p>
          <a:p>
            <a:pPr algn="ctr" indent="0" marL="0">
              <a:buNone/>
            </a:pPr>
            <a:r>
              <a:rPr lang="en-US" sz="1100" b="1" spc="300" kern="0" dirty="0">
                <a:solidFill>
                  <a:srgbClr val="1F2937"/>
                </a:solidFill>
                <a:latin typeface="Calibri" pitchFamily="34" charset="0"/>
                <a:ea typeface="Calibri" pitchFamily="34" charset="-122"/>
                <a:cs typeface="Calibri" pitchFamily="34" charset="-120"/>
              </a:rPr>
              <a:t>PER REVIEW</a:t>
            </a:r>
            <a:endParaRPr lang="en-US" sz="1100" dirty="0"/>
          </a:p>
        </p:txBody>
      </p:sp>
      <p:sp>
        <p:nvSpPr>
          <p:cNvPr id="16" name="Text 14"/>
          <p:cNvSpPr/>
          <p:nvPr/>
        </p:nvSpPr>
        <p:spPr>
          <a:xfrm>
            <a:off x="457200" y="3474720"/>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DATA PIPELINE</a:t>
            </a:r>
            <a:endParaRPr lang="en-US" sz="1100" dirty="0"/>
          </a:p>
        </p:txBody>
      </p:sp>
      <p:sp>
        <p:nvSpPr>
          <p:cNvPr id="17" name="Shape 15"/>
          <p:cNvSpPr/>
          <p:nvPr/>
        </p:nvSpPr>
        <p:spPr>
          <a:xfrm>
            <a:off x="640080" y="3931920"/>
            <a:ext cx="2011680" cy="1463040"/>
          </a:xfrm>
          <a:prstGeom prst="rect">
            <a:avLst/>
          </a:prstGeom>
          <a:solidFill>
            <a:srgbClr val="F8FAFC"/>
          </a:solidFill>
          <a:ln w="19050">
            <a:solidFill>
              <a:srgbClr val="0F766E"/>
            </a:solidFill>
            <a:prstDash val="solid"/>
          </a:ln>
        </p:spPr>
      </p:sp>
      <p:sp>
        <p:nvSpPr>
          <p:cNvPr id="18" name="Text 16"/>
          <p:cNvSpPr/>
          <p:nvPr/>
        </p:nvSpPr>
        <p:spPr>
          <a:xfrm>
            <a:off x="731520" y="4114800"/>
            <a:ext cx="1828800" cy="77724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Yelp Open</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Dataset</a:t>
            </a:r>
            <a:endParaRPr lang="en-US" sz="1400" dirty="0"/>
          </a:p>
        </p:txBody>
      </p:sp>
      <p:sp>
        <p:nvSpPr>
          <p:cNvPr id="19" name="Text 17"/>
          <p:cNvSpPr/>
          <p:nvPr/>
        </p:nvSpPr>
        <p:spPr>
          <a:xfrm>
            <a:off x="731520" y="4892040"/>
            <a:ext cx="1828800" cy="457200"/>
          </a:xfrm>
          <a:prstGeom prst="rect">
            <a:avLst/>
          </a:prstGeom>
          <a:noFill/>
          <a:ln/>
        </p:spPr>
        <p:txBody>
          <a:bodyPr wrap="square" lIns="0" tIns="0" rIns="0" bIns="0" rtlCol="0" anchor="t"/>
          <a:lstStyle/>
          <a:p>
            <a:pPr algn="ctr" indent="0" marL="0">
              <a:buNone/>
            </a:pPr>
            <a:r>
              <a:rPr lang="en-US" sz="1000" i="1" dirty="0">
                <a:solidFill>
                  <a:srgbClr val="64748B"/>
                </a:solidFill>
                <a:latin typeface="Calibri" pitchFamily="34" charset="0"/>
                <a:ea typeface="Calibri" pitchFamily="34" charset="-122"/>
                <a:cs typeface="Calibri" pitchFamily="34" charset="-120"/>
              </a:rPr>
              <a:t>Raw JSON files</a:t>
            </a:r>
            <a:endParaRPr lang="en-US" sz="1000" dirty="0"/>
          </a:p>
        </p:txBody>
      </p:sp>
      <p:sp>
        <p:nvSpPr>
          <p:cNvPr id="20" name="Text 18"/>
          <p:cNvSpPr/>
          <p:nvPr/>
        </p:nvSpPr>
        <p:spPr>
          <a:xfrm>
            <a:off x="2560320" y="3931920"/>
            <a:ext cx="411480" cy="1463040"/>
          </a:xfrm>
          <a:prstGeom prst="rect">
            <a:avLst/>
          </a:prstGeom>
          <a:noFill/>
          <a:ln/>
        </p:spPr>
        <p:txBody>
          <a:bodyPr wrap="square" lIns="0" tIns="0" rIns="0" bIns="0" rtlCol="0" anchor="ctr"/>
          <a:lstStyle/>
          <a:p>
            <a:pPr algn="ctr" indent="0" marL="0">
              <a:buNone/>
            </a:pPr>
            <a:r>
              <a:rPr lang="en-US" sz="2200" b="1" dirty="0">
                <a:solidFill>
                  <a:srgbClr val="0F766E"/>
                </a:solidFill>
                <a:latin typeface="Calibri" pitchFamily="34" charset="0"/>
                <a:ea typeface="Calibri" pitchFamily="34" charset="-122"/>
                <a:cs typeface="Calibri" pitchFamily="34" charset="-120"/>
              </a:rPr>
              <a:t>→</a:t>
            </a:r>
            <a:endParaRPr lang="en-US" sz="2200" dirty="0"/>
          </a:p>
        </p:txBody>
      </p:sp>
      <p:sp>
        <p:nvSpPr>
          <p:cNvPr id="21" name="Shape 19"/>
          <p:cNvSpPr/>
          <p:nvPr/>
        </p:nvSpPr>
        <p:spPr>
          <a:xfrm>
            <a:off x="2880360" y="3931920"/>
            <a:ext cx="2011680" cy="1463040"/>
          </a:xfrm>
          <a:prstGeom prst="rect">
            <a:avLst/>
          </a:prstGeom>
          <a:solidFill>
            <a:srgbClr val="F8FAFC"/>
          </a:solidFill>
          <a:ln w="19050">
            <a:solidFill>
              <a:srgbClr val="0F766E"/>
            </a:solidFill>
            <a:prstDash val="solid"/>
          </a:ln>
        </p:spPr>
      </p:sp>
      <p:sp>
        <p:nvSpPr>
          <p:cNvPr id="22" name="Text 20"/>
          <p:cNvSpPr/>
          <p:nvPr/>
        </p:nvSpPr>
        <p:spPr>
          <a:xfrm>
            <a:off x="2971800" y="4114800"/>
            <a:ext cx="1828800" cy="77724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Filter to</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martial arts</a:t>
            </a:r>
            <a:endParaRPr lang="en-US" sz="1400" dirty="0"/>
          </a:p>
        </p:txBody>
      </p:sp>
      <p:sp>
        <p:nvSpPr>
          <p:cNvPr id="23" name="Text 21"/>
          <p:cNvSpPr/>
          <p:nvPr/>
        </p:nvSpPr>
        <p:spPr>
          <a:xfrm>
            <a:off x="2971800" y="4892040"/>
            <a:ext cx="1828800" cy="457200"/>
          </a:xfrm>
          <a:prstGeom prst="rect">
            <a:avLst/>
          </a:prstGeom>
          <a:noFill/>
          <a:ln/>
        </p:spPr>
        <p:txBody>
          <a:bodyPr wrap="square" lIns="0" tIns="0" rIns="0" bIns="0" rtlCol="0" anchor="t"/>
          <a:lstStyle/>
          <a:p>
            <a:pPr algn="ctr" indent="0" marL="0">
              <a:buNone/>
            </a:pPr>
            <a:r>
              <a:rPr lang="en-US" sz="1000" i="1" dirty="0">
                <a:solidFill>
                  <a:srgbClr val="64748B"/>
                </a:solidFill>
                <a:latin typeface="Calibri" pitchFamily="34" charset="0"/>
                <a:ea typeface="Calibri" pitchFamily="34" charset="-122"/>
                <a:cs typeface="Calibri" pitchFamily="34" charset="-120"/>
              </a:rPr>
              <a:t>265 businesses</a:t>
            </a:r>
            <a:endParaRPr lang="en-US" sz="1000" dirty="0"/>
          </a:p>
        </p:txBody>
      </p:sp>
      <p:sp>
        <p:nvSpPr>
          <p:cNvPr id="24" name="Text 22"/>
          <p:cNvSpPr/>
          <p:nvPr/>
        </p:nvSpPr>
        <p:spPr>
          <a:xfrm>
            <a:off x="4800600" y="3931920"/>
            <a:ext cx="411480" cy="1463040"/>
          </a:xfrm>
          <a:prstGeom prst="rect">
            <a:avLst/>
          </a:prstGeom>
          <a:noFill/>
          <a:ln/>
        </p:spPr>
        <p:txBody>
          <a:bodyPr wrap="square" lIns="0" tIns="0" rIns="0" bIns="0" rtlCol="0" anchor="ctr"/>
          <a:lstStyle/>
          <a:p>
            <a:pPr algn="ctr" indent="0" marL="0">
              <a:buNone/>
            </a:pPr>
            <a:r>
              <a:rPr lang="en-US" sz="2200" b="1" dirty="0">
                <a:solidFill>
                  <a:srgbClr val="0F766E"/>
                </a:solidFill>
                <a:latin typeface="Calibri" pitchFamily="34" charset="0"/>
                <a:ea typeface="Calibri" pitchFamily="34" charset="-122"/>
                <a:cs typeface="Calibri" pitchFamily="34" charset="-120"/>
              </a:rPr>
              <a:t>→</a:t>
            </a:r>
            <a:endParaRPr lang="en-US" sz="2200" dirty="0"/>
          </a:p>
        </p:txBody>
      </p:sp>
      <p:sp>
        <p:nvSpPr>
          <p:cNvPr id="25" name="Shape 23"/>
          <p:cNvSpPr/>
          <p:nvPr/>
        </p:nvSpPr>
        <p:spPr>
          <a:xfrm>
            <a:off x="5120640" y="3931920"/>
            <a:ext cx="2011680" cy="1463040"/>
          </a:xfrm>
          <a:prstGeom prst="rect">
            <a:avLst/>
          </a:prstGeom>
          <a:solidFill>
            <a:srgbClr val="F8FAFC"/>
          </a:solidFill>
          <a:ln w="19050">
            <a:solidFill>
              <a:srgbClr val="0F766E"/>
            </a:solidFill>
            <a:prstDash val="solid"/>
          </a:ln>
        </p:spPr>
      </p:sp>
      <p:sp>
        <p:nvSpPr>
          <p:cNvPr id="26" name="Text 24"/>
          <p:cNvSpPr/>
          <p:nvPr/>
        </p:nvSpPr>
        <p:spPr>
          <a:xfrm>
            <a:off x="5212080" y="4114800"/>
            <a:ext cx="1828800" cy="77724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Drop 3-star</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&amp; nulls</a:t>
            </a:r>
            <a:endParaRPr lang="en-US" sz="1400" dirty="0"/>
          </a:p>
        </p:txBody>
      </p:sp>
      <p:sp>
        <p:nvSpPr>
          <p:cNvPr id="27" name="Text 25"/>
          <p:cNvSpPr/>
          <p:nvPr/>
        </p:nvSpPr>
        <p:spPr>
          <a:xfrm>
            <a:off x="5212080" y="4892040"/>
            <a:ext cx="1828800" cy="457200"/>
          </a:xfrm>
          <a:prstGeom prst="rect">
            <a:avLst/>
          </a:prstGeom>
          <a:noFill/>
          <a:ln/>
        </p:spPr>
        <p:txBody>
          <a:bodyPr wrap="square" lIns="0" tIns="0" rIns="0" bIns="0" rtlCol="0" anchor="t"/>
          <a:lstStyle/>
          <a:p>
            <a:pPr algn="ctr" indent="0" marL="0">
              <a:buNone/>
            </a:pPr>
            <a:r>
              <a:rPr lang="en-US" sz="1000" i="1" dirty="0">
                <a:solidFill>
                  <a:srgbClr val="64748B"/>
                </a:solidFill>
                <a:latin typeface="Calibri" pitchFamily="34" charset="0"/>
                <a:ea typeface="Calibri" pitchFamily="34" charset="-122"/>
                <a:cs typeface="Calibri" pitchFamily="34" charset="-120"/>
              </a:rPr>
              <a:t>3,212 reviews</a:t>
            </a:r>
            <a:endParaRPr lang="en-US" sz="1000" dirty="0"/>
          </a:p>
        </p:txBody>
      </p:sp>
      <p:sp>
        <p:nvSpPr>
          <p:cNvPr id="28" name="Text 26"/>
          <p:cNvSpPr/>
          <p:nvPr/>
        </p:nvSpPr>
        <p:spPr>
          <a:xfrm>
            <a:off x="7040880" y="3931920"/>
            <a:ext cx="411480" cy="1463040"/>
          </a:xfrm>
          <a:prstGeom prst="rect">
            <a:avLst/>
          </a:prstGeom>
          <a:noFill/>
          <a:ln/>
        </p:spPr>
        <p:txBody>
          <a:bodyPr wrap="square" lIns="0" tIns="0" rIns="0" bIns="0" rtlCol="0" anchor="ctr"/>
          <a:lstStyle/>
          <a:p>
            <a:pPr algn="ctr" indent="0" marL="0">
              <a:buNone/>
            </a:pPr>
            <a:r>
              <a:rPr lang="en-US" sz="2200" b="1" dirty="0">
                <a:solidFill>
                  <a:srgbClr val="0F766E"/>
                </a:solidFill>
                <a:latin typeface="Calibri" pitchFamily="34" charset="0"/>
                <a:ea typeface="Calibri" pitchFamily="34" charset="-122"/>
                <a:cs typeface="Calibri" pitchFamily="34" charset="-120"/>
              </a:rPr>
              <a:t>→</a:t>
            </a:r>
            <a:endParaRPr lang="en-US" sz="2200" dirty="0"/>
          </a:p>
        </p:txBody>
      </p:sp>
      <p:sp>
        <p:nvSpPr>
          <p:cNvPr id="29" name="Shape 27"/>
          <p:cNvSpPr/>
          <p:nvPr/>
        </p:nvSpPr>
        <p:spPr>
          <a:xfrm>
            <a:off x="7360920" y="3931920"/>
            <a:ext cx="2011680" cy="1463040"/>
          </a:xfrm>
          <a:prstGeom prst="rect">
            <a:avLst/>
          </a:prstGeom>
          <a:solidFill>
            <a:srgbClr val="F8FAFC"/>
          </a:solidFill>
          <a:ln w="19050">
            <a:solidFill>
              <a:srgbClr val="0F766E"/>
            </a:solidFill>
            <a:prstDash val="solid"/>
          </a:ln>
        </p:spPr>
      </p:sp>
      <p:sp>
        <p:nvSpPr>
          <p:cNvPr id="30" name="Text 28"/>
          <p:cNvSpPr/>
          <p:nvPr/>
        </p:nvSpPr>
        <p:spPr>
          <a:xfrm>
            <a:off x="7452360" y="4114800"/>
            <a:ext cx="1828800" cy="77724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Binary</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labels</a:t>
            </a:r>
            <a:endParaRPr lang="en-US" sz="1400" dirty="0"/>
          </a:p>
        </p:txBody>
      </p:sp>
      <p:sp>
        <p:nvSpPr>
          <p:cNvPr id="31" name="Text 29"/>
          <p:cNvSpPr/>
          <p:nvPr/>
        </p:nvSpPr>
        <p:spPr>
          <a:xfrm>
            <a:off x="7452360" y="4892040"/>
            <a:ext cx="1828800" cy="457200"/>
          </a:xfrm>
          <a:prstGeom prst="rect">
            <a:avLst/>
          </a:prstGeom>
          <a:noFill/>
          <a:ln/>
        </p:spPr>
        <p:txBody>
          <a:bodyPr wrap="square" lIns="0" tIns="0" rIns="0" bIns="0" rtlCol="0" anchor="t"/>
          <a:lstStyle/>
          <a:p>
            <a:pPr algn="ctr" indent="0" marL="0">
              <a:buNone/>
            </a:pPr>
            <a:r>
              <a:rPr lang="en-US" sz="1000" i="1" dirty="0">
                <a:solidFill>
                  <a:srgbClr val="64748B"/>
                </a:solidFill>
                <a:latin typeface="Calibri" pitchFamily="34" charset="0"/>
                <a:ea typeface="Calibri" pitchFamily="34" charset="-122"/>
                <a:cs typeface="Calibri" pitchFamily="34" charset="-120"/>
              </a:rPr>
              <a:t>1-2★→0  4-5★→1</a:t>
            </a:r>
            <a:endParaRPr lang="en-US" sz="1000" dirty="0"/>
          </a:p>
        </p:txBody>
      </p:sp>
      <p:sp>
        <p:nvSpPr>
          <p:cNvPr id="32" name="Text 30"/>
          <p:cNvSpPr/>
          <p:nvPr/>
        </p:nvSpPr>
        <p:spPr>
          <a:xfrm>
            <a:off x="9281160" y="3931920"/>
            <a:ext cx="411480" cy="1463040"/>
          </a:xfrm>
          <a:prstGeom prst="rect">
            <a:avLst/>
          </a:prstGeom>
          <a:noFill/>
          <a:ln/>
        </p:spPr>
        <p:txBody>
          <a:bodyPr wrap="square" lIns="0" tIns="0" rIns="0" bIns="0" rtlCol="0" anchor="ctr"/>
          <a:lstStyle/>
          <a:p>
            <a:pPr algn="ctr" indent="0" marL="0">
              <a:buNone/>
            </a:pPr>
            <a:r>
              <a:rPr lang="en-US" sz="2200" b="1" dirty="0">
                <a:solidFill>
                  <a:srgbClr val="0F766E"/>
                </a:solidFill>
                <a:latin typeface="Calibri" pitchFamily="34" charset="0"/>
                <a:ea typeface="Calibri" pitchFamily="34" charset="-122"/>
                <a:cs typeface="Calibri" pitchFamily="34" charset="-120"/>
              </a:rPr>
              <a:t>→</a:t>
            </a:r>
            <a:endParaRPr lang="en-US" sz="2200" dirty="0"/>
          </a:p>
        </p:txBody>
      </p:sp>
      <p:sp>
        <p:nvSpPr>
          <p:cNvPr id="33" name="Shape 31"/>
          <p:cNvSpPr/>
          <p:nvPr/>
        </p:nvSpPr>
        <p:spPr>
          <a:xfrm>
            <a:off x="9601200" y="3931920"/>
            <a:ext cx="2011680" cy="1463040"/>
          </a:xfrm>
          <a:prstGeom prst="rect">
            <a:avLst/>
          </a:prstGeom>
          <a:solidFill>
            <a:srgbClr val="F8FAFC"/>
          </a:solidFill>
          <a:ln w="19050">
            <a:solidFill>
              <a:srgbClr val="0F766E"/>
            </a:solidFill>
            <a:prstDash val="solid"/>
          </a:ln>
        </p:spPr>
      </p:sp>
      <p:sp>
        <p:nvSpPr>
          <p:cNvPr id="34" name="Text 32"/>
          <p:cNvSpPr/>
          <p:nvPr/>
        </p:nvSpPr>
        <p:spPr>
          <a:xfrm>
            <a:off x="9692640" y="4114800"/>
            <a:ext cx="1828800" cy="77724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Ready for</a:t>
            </a:r>
            <a:endParaRPr lang="en-US" sz="1400" dirty="0"/>
          </a:p>
          <a:p>
            <a:pPr algn="ctr" indent="0" marL="0">
              <a:buNone/>
            </a:pPr>
            <a:r>
              <a:rPr lang="en-US" sz="1400" b="1" dirty="0">
                <a:solidFill>
                  <a:srgbClr val="1F2937"/>
                </a:solidFill>
                <a:latin typeface="Calibri" pitchFamily="34" charset="0"/>
                <a:ea typeface="Calibri" pitchFamily="34" charset="-122"/>
                <a:cs typeface="Calibri" pitchFamily="34" charset="-120"/>
              </a:rPr>
              <a:t>NLP</a:t>
            </a:r>
            <a:endParaRPr lang="en-US" sz="1400" dirty="0"/>
          </a:p>
        </p:txBody>
      </p:sp>
      <p:sp>
        <p:nvSpPr>
          <p:cNvPr id="35" name="Text 33"/>
          <p:cNvSpPr/>
          <p:nvPr/>
        </p:nvSpPr>
        <p:spPr>
          <a:xfrm>
            <a:off x="9692640" y="4892040"/>
            <a:ext cx="1828800" cy="457200"/>
          </a:xfrm>
          <a:prstGeom prst="rect">
            <a:avLst/>
          </a:prstGeom>
          <a:noFill/>
          <a:ln/>
        </p:spPr>
        <p:txBody>
          <a:bodyPr wrap="square" lIns="0" tIns="0" rIns="0" bIns="0" rtlCol="0" anchor="t"/>
          <a:lstStyle/>
          <a:p>
            <a:pPr algn="ctr" indent="0" marL="0">
              <a:buNone/>
            </a:pPr>
            <a:r>
              <a:rPr lang="en-US" sz="1000" i="1" dirty="0">
                <a:solidFill>
                  <a:srgbClr val="64748B"/>
                </a:solidFill>
                <a:latin typeface="Calibri" pitchFamily="34" charset="0"/>
                <a:ea typeface="Calibri" pitchFamily="34" charset="-122"/>
                <a:cs typeface="Calibri" pitchFamily="34" charset="-120"/>
              </a:rPr>
              <a:t>Train / test split</a:t>
            </a:r>
            <a:endParaRPr lang="en-US" sz="1000" dirty="0"/>
          </a:p>
        </p:txBody>
      </p:sp>
      <p:sp>
        <p:nvSpPr>
          <p:cNvPr id="36" name="Text 34"/>
          <p:cNvSpPr/>
          <p:nvPr/>
        </p:nvSpPr>
        <p:spPr>
          <a:xfrm>
            <a:off x="457200" y="5852160"/>
            <a:ext cx="11247120" cy="36576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3-star reviews removed to make the positive vs. negative classification cleaner.</a:t>
            </a:r>
            <a:endParaRPr lang="en-US" sz="1200" dirty="0"/>
          </a:p>
        </p:txBody>
      </p:sp>
      <p:sp>
        <p:nvSpPr>
          <p:cNvPr id="37" name="Text 35"/>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38" name="Text 36"/>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04  •  EXPLORATORY DATA ANALYSIS</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Reviews skew positive — and that's an analytical problem.</a:t>
            </a:r>
            <a:endParaRPr lang="en-US" sz="3000" dirty="0"/>
          </a:p>
        </p:txBody>
      </p:sp>
      <p:graphicFrame>
        <p:nvGraphicFramePr>
          <p:cNvPr id="4" name="Chart 0" descr=""/>
          <p:cNvGraphicFramePr/>
          <p:nvPr/>
        </p:nvGraphicFramePr>
        <p:xfrm>
          <a:off x="457200" y="1554480"/>
          <a:ext cx="530352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126480" y="1554480"/>
            <a:ext cx="5577840" cy="4206240"/>
          </a:xfrm>
          <a:prstGeom prst="rect">
            <a:avLst/>
          </a:prstGeom>
          <a:solidFill>
            <a:srgbClr val="F8FAFC"/>
          </a:solidFill>
          <a:ln w="12700">
            <a:solidFill>
              <a:srgbClr val="E2E8F0"/>
            </a:solidFill>
            <a:prstDash val="solid"/>
          </a:ln>
        </p:spPr>
      </p:sp>
      <p:sp>
        <p:nvSpPr>
          <p:cNvPr id="6" name="Shape 3"/>
          <p:cNvSpPr/>
          <p:nvPr/>
        </p:nvSpPr>
        <p:spPr>
          <a:xfrm>
            <a:off x="6126480" y="1554480"/>
            <a:ext cx="91440" cy="4206240"/>
          </a:xfrm>
          <a:prstGeom prst="rect">
            <a:avLst/>
          </a:prstGeom>
          <a:solidFill>
            <a:srgbClr val="D97706"/>
          </a:solidFill>
          <a:ln/>
        </p:spPr>
      </p:sp>
      <p:sp>
        <p:nvSpPr>
          <p:cNvPr id="7" name="Text 4"/>
          <p:cNvSpPr/>
          <p:nvPr/>
        </p:nvSpPr>
        <p:spPr>
          <a:xfrm>
            <a:off x="6400800" y="1737360"/>
            <a:ext cx="5212080" cy="32004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WHAT THIS MEANS</a:t>
            </a:r>
            <a:endParaRPr lang="en-US" sz="1100" dirty="0"/>
          </a:p>
        </p:txBody>
      </p:sp>
      <p:sp>
        <p:nvSpPr>
          <p:cNvPr id="8" name="Text 5"/>
          <p:cNvSpPr/>
          <p:nvPr/>
        </p:nvSpPr>
        <p:spPr>
          <a:xfrm>
            <a:off x="6400800" y="2103120"/>
            <a:ext cx="5212080" cy="3566160"/>
          </a:xfrm>
          <a:prstGeom prst="rect">
            <a:avLst/>
          </a:prstGeom>
          <a:noFill/>
          <a:ln/>
        </p:spPr>
        <p:txBody>
          <a:bodyPr wrap="square" lIns="0" tIns="0" rIns="0" bIns="0" rtlCol="0" anchor="t"/>
          <a:lstStyle/>
          <a:p>
            <a:pPr indent="0" marL="0">
              <a:buNone/>
            </a:pPr>
            <a:r>
              <a:rPr lang="en-US" sz="1800" b="1" dirty="0">
                <a:solidFill>
                  <a:srgbClr val="1F2937"/>
                </a:solidFill>
                <a:latin typeface="Calibri" pitchFamily="34" charset="0"/>
                <a:ea typeface="Calibri" pitchFamily="34" charset="-122"/>
                <a:cs typeface="Calibri" pitchFamily="34" charset="-120"/>
              </a:rPr>
              <a:t>82% positive, 18% negative.</a:t>
            </a:r>
            <a:endParaRPr lang="en-US" sz="18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300" dirty="0">
                <a:solidFill>
                  <a:srgbClr val="0F172A"/>
                </a:solidFill>
                <a:latin typeface="Calibri" pitchFamily="34" charset="0"/>
                <a:ea typeface="Calibri" pitchFamily="34" charset="-122"/>
                <a:cs typeface="Calibri" pitchFamily="34" charset="-120"/>
              </a:rPr>
              <a:t>Yelp self-selects for happy customers — which is good for owners but bad for class balance in a model.</a:t>
            </a:r>
            <a:endParaRPr lang="en-US" sz="1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300" b="1" dirty="0">
                <a:solidFill>
                  <a:srgbClr val="1F2937"/>
                </a:solidFill>
                <a:latin typeface="Calibri" pitchFamily="34" charset="0"/>
                <a:ea typeface="Calibri" pitchFamily="34" charset="-122"/>
                <a:cs typeface="Calibri" pitchFamily="34" charset="-120"/>
              </a:rPr>
              <a:t>Implications for the project:</a:t>
            </a:r>
            <a:endParaRPr lang="en-US" sz="18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800" dirty="0"/>
          </a:p>
          <a:p>
            <a:pPr marL="342900" indent="-342900">
              <a:buSzPct val="100000"/>
              <a:buChar char="•"/>
            </a:pPr>
            <a:r>
              <a:rPr lang="en-US" sz="1250" dirty="0">
                <a:solidFill>
                  <a:srgbClr val="0F172A"/>
                </a:solidFill>
                <a:latin typeface="Calibri" pitchFamily="34" charset="0"/>
                <a:ea typeface="Calibri" pitchFamily="34" charset="-122"/>
                <a:cs typeface="Calibri" pitchFamily="34" charset="-120"/>
              </a:rPr>
              <a:t>Stratify the train/test split so both classes appear in test</a:t>
            </a:r>
            <a:endParaRPr lang="en-US" sz="1800" dirty="0"/>
          </a:p>
          <a:p>
            <a:pPr marL="342900" indent="-342900">
              <a:buSzPct val="100000"/>
              <a:buChar char="•"/>
            </a:pPr>
            <a:r>
              <a:rPr lang="en-US" sz="1250" dirty="0">
                <a:solidFill>
                  <a:srgbClr val="0F172A"/>
                </a:solidFill>
                <a:latin typeface="Calibri" pitchFamily="34" charset="0"/>
                <a:ea typeface="Calibri" pitchFamily="34" charset="-122"/>
                <a:cs typeface="Calibri" pitchFamily="34" charset="-120"/>
              </a:rPr>
              <a:t>Watch recall on the negative class — accuracy alone will lie</a:t>
            </a:r>
            <a:endParaRPr lang="en-US" sz="1800" dirty="0"/>
          </a:p>
          <a:p>
            <a:pPr marL="342900" indent="-342900">
              <a:buSzPct val="100000"/>
              <a:buChar char="•"/>
            </a:pPr>
            <a:r>
              <a:rPr lang="en-US" sz="1250" dirty="0">
                <a:solidFill>
                  <a:srgbClr val="0F172A"/>
                </a:solidFill>
                <a:latin typeface="Calibri" pitchFamily="34" charset="0"/>
                <a:ea typeface="Calibri" pitchFamily="34" charset="-122"/>
                <a:cs typeface="Calibri" pitchFamily="34" charset="-120"/>
              </a:rPr>
              <a:t>Negative reviews are rarer but carry higher information density</a:t>
            </a:r>
            <a:endParaRPr lang="en-US" sz="1800" dirty="0"/>
          </a:p>
        </p:txBody>
      </p:sp>
      <p:sp>
        <p:nvSpPr>
          <p:cNvPr id="9" name="Text 6"/>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10" name="Text 7"/>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04  •  EXPLORATORY DATA ANALYSIS</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Where the reviews come from and how they're rated</a:t>
            </a:r>
            <a:endParaRPr lang="en-US" sz="3000" dirty="0"/>
          </a:p>
        </p:txBody>
      </p:sp>
      <p:graphicFrame>
        <p:nvGraphicFramePr>
          <p:cNvPr id="4" name="Chart 0" descr=""/>
          <p:cNvGraphicFramePr/>
          <p:nvPr/>
        </p:nvGraphicFramePr>
        <p:xfrm>
          <a:off x="457200" y="1554480"/>
          <a:ext cx="548640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554480"/>
          <a:ext cx="5486400" cy="45720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457200" y="6263640"/>
            <a:ext cx="1124712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Reno, Philadelphia, and Nashville drive most of the volume — useful to know if I were marketing regionally.</a:t>
            </a:r>
            <a:endParaRPr lang="en-US" sz="1100" dirty="0"/>
          </a:p>
        </p:txBody>
      </p:sp>
      <p:sp>
        <p:nvSpPr>
          <p:cNvPr id="7" name="Text 3"/>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8" name="Text 4"/>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05  •  METHODOLOGY</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Six NLP methods spanning the full course curriculum</a:t>
            </a:r>
            <a:endParaRPr lang="en-US" sz="3000" dirty="0"/>
          </a:p>
        </p:txBody>
      </p:sp>
      <p:sp>
        <p:nvSpPr>
          <p:cNvPr id="4" name="Shape 2"/>
          <p:cNvSpPr/>
          <p:nvPr/>
        </p:nvSpPr>
        <p:spPr>
          <a:xfrm>
            <a:off x="457200" y="1508760"/>
            <a:ext cx="3730752" cy="2423160"/>
          </a:xfrm>
          <a:prstGeom prst="rect">
            <a:avLst/>
          </a:prstGeom>
          <a:solidFill>
            <a:srgbClr val="F8FAFC"/>
          </a:solidFill>
          <a:ln w="12700">
            <a:solidFill>
              <a:srgbClr val="E2E8F0"/>
            </a:solidFill>
            <a:prstDash val="solid"/>
          </a:ln>
        </p:spPr>
      </p:sp>
      <p:sp>
        <p:nvSpPr>
          <p:cNvPr id="5" name="Shape 3"/>
          <p:cNvSpPr/>
          <p:nvPr/>
        </p:nvSpPr>
        <p:spPr>
          <a:xfrm>
            <a:off x="457200" y="1508760"/>
            <a:ext cx="3730752" cy="502920"/>
          </a:xfrm>
          <a:prstGeom prst="rect">
            <a:avLst/>
          </a:prstGeom>
          <a:solidFill>
            <a:srgbClr val="1F2937"/>
          </a:solidFill>
          <a:ln/>
        </p:spPr>
      </p:sp>
      <p:sp>
        <p:nvSpPr>
          <p:cNvPr id="6" name="Text 4"/>
          <p:cNvSpPr/>
          <p:nvPr/>
        </p:nvSpPr>
        <p:spPr>
          <a:xfrm>
            <a:off x="685800" y="1627632"/>
            <a:ext cx="548640" cy="274320"/>
          </a:xfrm>
          <a:prstGeom prst="rect">
            <a:avLst/>
          </a:prstGeom>
          <a:noFill/>
          <a:ln/>
        </p:spPr>
        <p:txBody>
          <a:bodyPr wrap="square" lIns="0" tIns="0" rIns="0" bIns="0" rtlCol="0" anchor="ctr"/>
          <a:lstStyle/>
          <a:p>
            <a:pPr indent="0" marL="0">
              <a:buNone/>
            </a:pPr>
            <a:r>
              <a:rPr lang="en-US" sz="1200" b="1" spc="300" kern="0" dirty="0">
                <a:solidFill>
                  <a:srgbClr val="14B8A6"/>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1234440" y="1609344"/>
            <a:ext cx="286207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VADER</a:t>
            </a:r>
            <a:endParaRPr lang="en-US" sz="1500" dirty="0"/>
          </a:p>
        </p:txBody>
      </p:sp>
      <p:sp>
        <p:nvSpPr>
          <p:cNvPr id="8" name="Text 6"/>
          <p:cNvSpPr/>
          <p:nvPr/>
        </p:nvSpPr>
        <p:spPr>
          <a:xfrm>
            <a:off x="685800" y="2148840"/>
            <a:ext cx="3273552" cy="274320"/>
          </a:xfrm>
          <a:prstGeom prst="rect">
            <a:avLst/>
          </a:prstGeom>
          <a:noFill/>
          <a:ln/>
        </p:spPr>
        <p:txBody>
          <a:bodyPr wrap="square" lIns="0" tIns="0" rIns="0" bIns="0" rtlCol="0" anchor="ctr"/>
          <a:lstStyle/>
          <a:p>
            <a:pPr indent="0" marL="0">
              <a:buNone/>
            </a:pPr>
            <a:r>
              <a:rPr lang="en-US" sz="1000" b="1" spc="300" kern="0" dirty="0">
                <a:solidFill>
                  <a:srgbClr val="0F766E"/>
                </a:solidFill>
                <a:latin typeface="Calibri" pitchFamily="34" charset="0"/>
                <a:ea typeface="Calibri" pitchFamily="34" charset="-122"/>
                <a:cs typeface="Calibri" pitchFamily="34" charset="-120"/>
              </a:rPr>
              <a:t>SENTIMENT  •  LEXICON</a:t>
            </a:r>
            <a:endParaRPr lang="en-US" sz="1000" dirty="0"/>
          </a:p>
        </p:txBody>
      </p:sp>
      <p:sp>
        <p:nvSpPr>
          <p:cNvPr id="9" name="Text 7"/>
          <p:cNvSpPr/>
          <p:nvPr/>
        </p:nvSpPr>
        <p:spPr>
          <a:xfrm>
            <a:off x="685800" y="2468880"/>
            <a:ext cx="3273552" cy="64008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Lexicon-based polarity scoring</a:t>
            </a:r>
            <a:endParaRPr lang="en-US" sz="1200" dirty="0"/>
          </a:p>
        </p:txBody>
      </p:sp>
      <p:sp>
        <p:nvSpPr>
          <p:cNvPr id="10" name="Shape 8"/>
          <p:cNvSpPr/>
          <p:nvPr/>
        </p:nvSpPr>
        <p:spPr>
          <a:xfrm>
            <a:off x="685800" y="3200400"/>
            <a:ext cx="3273552" cy="0"/>
          </a:xfrm>
          <a:prstGeom prst="line">
            <a:avLst/>
          </a:prstGeom>
          <a:noFill/>
          <a:ln w="12700">
            <a:solidFill>
              <a:srgbClr val="E2E8F0"/>
            </a:solidFill>
            <a:prstDash val="solid"/>
          </a:ln>
        </p:spPr>
      </p:sp>
      <p:sp>
        <p:nvSpPr>
          <p:cNvPr id="11" name="Text 9"/>
          <p:cNvSpPr/>
          <p:nvPr/>
        </p:nvSpPr>
        <p:spPr>
          <a:xfrm>
            <a:off x="685800" y="3291840"/>
            <a:ext cx="3273552" cy="594360"/>
          </a:xfrm>
          <a:prstGeom prst="rect">
            <a:avLst/>
          </a:prstGeom>
          <a:noFill/>
          <a:ln/>
        </p:spPr>
        <p:txBody>
          <a:bodyPr wrap="square" lIns="0" tIns="0" rIns="0" bIns="0" rtlCol="0" anchor="t"/>
          <a:lstStyle/>
          <a:p>
            <a:pPr indent="0" marL="0">
              <a:buNone/>
            </a:pPr>
            <a:r>
              <a:rPr lang="en-US" sz="1200" i="1" dirty="0">
                <a:solidFill>
                  <a:srgbClr val="1F2937"/>
                </a:solidFill>
                <a:latin typeface="Calibri" pitchFamily="34" charset="0"/>
                <a:ea typeface="Calibri" pitchFamily="34" charset="-122"/>
                <a:cs typeface="Calibri" pitchFamily="34" charset="-120"/>
              </a:rPr>
              <a:t>Baseline: does the wording match the star rating?</a:t>
            </a:r>
            <a:endParaRPr lang="en-US" sz="1200" dirty="0"/>
          </a:p>
        </p:txBody>
      </p:sp>
      <p:sp>
        <p:nvSpPr>
          <p:cNvPr id="12" name="Shape 10"/>
          <p:cNvSpPr/>
          <p:nvPr/>
        </p:nvSpPr>
        <p:spPr>
          <a:xfrm>
            <a:off x="4352544" y="1508760"/>
            <a:ext cx="3730752" cy="2423160"/>
          </a:xfrm>
          <a:prstGeom prst="rect">
            <a:avLst/>
          </a:prstGeom>
          <a:solidFill>
            <a:srgbClr val="F8FAFC"/>
          </a:solidFill>
          <a:ln w="12700">
            <a:solidFill>
              <a:srgbClr val="E2E8F0"/>
            </a:solidFill>
            <a:prstDash val="solid"/>
          </a:ln>
        </p:spPr>
      </p:sp>
      <p:sp>
        <p:nvSpPr>
          <p:cNvPr id="13" name="Shape 11"/>
          <p:cNvSpPr/>
          <p:nvPr/>
        </p:nvSpPr>
        <p:spPr>
          <a:xfrm>
            <a:off x="4352544" y="1508760"/>
            <a:ext cx="3730752" cy="502920"/>
          </a:xfrm>
          <a:prstGeom prst="rect">
            <a:avLst/>
          </a:prstGeom>
          <a:solidFill>
            <a:srgbClr val="1F2937"/>
          </a:solidFill>
          <a:ln/>
        </p:spPr>
      </p:sp>
      <p:sp>
        <p:nvSpPr>
          <p:cNvPr id="14" name="Text 12"/>
          <p:cNvSpPr/>
          <p:nvPr/>
        </p:nvSpPr>
        <p:spPr>
          <a:xfrm>
            <a:off x="4581144" y="1627632"/>
            <a:ext cx="548640" cy="274320"/>
          </a:xfrm>
          <a:prstGeom prst="rect">
            <a:avLst/>
          </a:prstGeom>
          <a:noFill/>
          <a:ln/>
        </p:spPr>
        <p:txBody>
          <a:bodyPr wrap="square" lIns="0" tIns="0" rIns="0" bIns="0" rtlCol="0" anchor="ctr"/>
          <a:lstStyle/>
          <a:p>
            <a:pPr indent="0" marL="0">
              <a:buNone/>
            </a:pPr>
            <a:r>
              <a:rPr lang="en-US" sz="1200" b="1" spc="300" kern="0" dirty="0">
                <a:solidFill>
                  <a:srgbClr val="14B8A6"/>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5129784" y="1609344"/>
            <a:ext cx="286207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Llama 3.2</a:t>
            </a:r>
            <a:endParaRPr lang="en-US" sz="1500" dirty="0"/>
          </a:p>
        </p:txBody>
      </p:sp>
      <p:sp>
        <p:nvSpPr>
          <p:cNvPr id="16" name="Text 14"/>
          <p:cNvSpPr/>
          <p:nvPr/>
        </p:nvSpPr>
        <p:spPr>
          <a:xfrm>
            <a:off x="4581144" y="2148840"/>
            <a:ext cx="3273552" cy="274320"/>
          </a:xfrm>
          <a:prstGeom prst="rect">
            <a:avLst/>
          </a:prstGeom>
          <a:noFill/>
          <a:ln/>
        </p:spPr>
        <p:txBody>
          <a:bodyPr wrap="square" lIns="0" tIns="0" rIns="0" bIns="0" rtlCol="0" anchor="ctr"/>
          <a:lstStyle/>
          <a:p>
            <a:pPr indent="0" marL="0">
              <a:buNone/>
            </a:pPr>
            <a:r>
              <a:rPr lang="en-US" sz="1000" b="1" spc="300" kern="0" dirty="0">
                <a:solidFill>
                  <a:srgbClr val="0F766E"/>
                </a:solidFill>
                <a:latin typeface="Calibri" pitchFamily="34" charset="0"/>
                <a:ea typeface="Calibri" pitchFamily="34" charset="-122"/>
                <a:cs typeface="Calibri" pitchFamily="34" charset="-120"/>
              </a:rPr>
              <a:t>SENTIMENT  •  LLM</a:t>
            </a:r>
            <a:endParaRPr lang="en-US" sz="1000" dirty="0"/>
          </a:p>
        </p:txBody>
      </p:sp>
      <p:sp>
        <p:nvSpPr>
          <p:cNvPr id="17" name="Text 15"/>
          <p:cNvSpPr/>
          <p:nvPr/>
        </p:nvSpPr>
        <p:spPr>
          <a:xfrm>
            <a:off x="4581144" y="2468880"/>
            <a:ext cx="3273552" cy="64008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Zero-shot + few-shot prompting via Ollama</a:t>
            </a:r>
            <a:endParaRPr lang="en-US" sz="1200" dirty="0"/>
          </a:p>
        </p:txBody>
      </p:sp>
      <p:sp>
        <p:nvSpPr>
          <p:cNvPr id="18" name="Shape 16"/>
          <p:cNvSpPr/>
          <p:nvPr/>
        </p:nvSpPr>
        <p:spPr>
          <a:xfrm>
            <a:off x="4581144" y="3200400"/>
            <a:ext cx="3273552" cy="0"/>
          </a:xfrm>
          <a:prstGeom prst="line">
            <a:avLst/>
          </a:prstGeom>
          <a:noFill/>
          <a:ln w="12700">
            <a:solidFill>
              <a:srgbClr val="E2E8F0"/>
            </a:solidFill>
            <a:prstDash val="solid"/>
          </a:ln>
        </p:spPr>
      </p:sp>
      <p:sp>
        <p:nvSpPr>
          <p:cNvPr id="19" name="Text 17"/>
          <p:cNvSpPr/>
          <p:nvPr/>
        </p:nvSpPr>
        <p:spPr>
          <a:xfrm>
            <a:off x="4581144" y="3291840"/>
            <a:ext cx="3273552" cy="594360"/>
          </a:xfrm>
          <a:prstGeom prst="rect">
            <a:avLst/>
          </a:prstGeom>
          <a:noFill/>
          <a:ln/>
        </p:spPr>
        <p:txBody>
          <a:bodyPr wrap="square" lIns="0" tIns="0" rIns="0" bIns="0" rtlCol="0" anchor="t"/>
          <a:lstStyle/>
          <a:p>
            <a:pPr indent="0" marL="0">
              <a:buNone/>
            </a:pPr>
            <a:r>
              <a:rPr lang="en-US" sz="1200" i="1" dirty="0">
                <a:solidFill>
                  <a:srgbClr val="1F2937"/>
                </a:solidFill>
                <a:latin typeface="Calibri" pitchFamily="34" charset="0"/>
                <a:ea typeface="Calibri" pitchFamily="34" charset="-122"/>
                <a:cs typeface="Calibri" pitchFamily="34" charset="-120"/>
              </a:rPr>
              <a:t>Can a modern LLM read mixed sentiment that VADER misses?</a:t>
            </a:r>
            <a:endParaRPr lang="en-US" sz="1200" dirty="0"/>
          </a:p>
        </p:txBody>
      </p:sp>
      <p:sp>
        <p:nvSpPr>
          <p:cNvPr id="20" name="Shape 18"/>
          <p:cNvSpPr/>
          <p:nvPr/>
        </p:nvSpPr>
        <p:spPr>
          <a:xfrm>
            <a:off x="8247888" y="1508760"/>
            <a:ext cx="3730752" cy="2423160"/>
          </a:xfrm>
          <a:prstGeom prst="rect">
            <a:avLst/>
          </a:prstGeom>
          <a:solidFill>
            <a:srgbClr val="F8FAFC"/>
          </a:solidFill>
          <a:ln w="12700">
            <a:solidFill>
              <a:srgbClr val="E2E8F0"/>
            </a:solidFill>
            <a:prstDash val="solid"/>
          </a:ln>
        </p:spPr>
      </p:sp>
      <p:sp>
        <p:nvSpPr>
          <p:cNvPr id="21" name="Shape 19"/>
          <p:cNvSpPr/>
          <p:nvPr/>
        </p:nvSpPr>
        <p:spPr>
          <a:xfrm>
            <a:off x="8247888" y="1508760"/>
            <a:ext cx="3730752" cy="502920"/>
          </a:xfrm>
          <a:prstGeom prst="rect">
            <a:avLst/>
          </a:prstGeom>
          <a:solidFill>
            <a:srgbClr val="1F2937"/>
          </a:solidFill>
          <a:ln/>
        </p:spPr>
      </p:sp>
      <p:sp>
        <p:nvSpPr>
          <p:cNvPr id="22" name="Text 20"/>
          <p:cNvSpPr/>
          <p:nvPr/>
        </p:nvSpPr>
        <p:spPr>
          <a:xfrm>
            <a:off x="8476488" y="1627632"/>
            <a:ext cx="548640" cy="274320"/>
          </a:xfrm>
          <a:prstGeom prst="rect">
            <a:avLst/>
          </a:prstGeom>
          <a:noFill/>
          <a:ln/>
        </p:spPr>
        <p:txBody>
          <a:bodyPr wrap="square" lIns="0" tIns="0" rIns="0" bIns="0" rtlCol="0" anchor="ctr"/>
          <a:lstStyle/>
          <a:p>
            <a:pPr indent="0" marL="0">
              <a:buNone/>
            </a:pPr>
            <a:r>
              <a:rPr lang="en-US" sz="1200" b="1" spc="300" kern="0" dirty="0">
                <a:solidFill>
                  <a:srgbClr val="14B8A6"/>
                </a:solidFill>
                <a:latin typeface="Calibri" pitchFamily="34" charset="0"/>
                <a:ea typeface="Calibri" pitchFamily="34" charset="-122"/>
                <a:cs typeface="Calibri" pitchFamily="34" charset="-120"/>
              </a:rPr>
              <a:t>03</a:t>
            </a:r>
            <a:endParaRPr lang="en-US" sz="1200" dirty="0"/>
          </a:p>
        </p:txBody>
      </p:sp>
      <p:sp>
        <p:nvSpPr>
          <p:cNvPr id="23" name="Text 21"/>
          <p:cNvSpPr/>
          <p:nvPr/>
        </p:nvSpPr>
        <p:spPr>
          <a:xfrm>
            <a:off x="9025128" y="1609344"/>
            <a:ext cx="286207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LDA</a:t>
            </a:r>
            <a:endParaRPr lang="en-US" sz="1500" dirty="0"/>
          </a:p>
        </p:txBody>
      </p:sp>
      <p:sp>
        <p:nvSpPr>
          <p:cNvPr id="24" name="Text 22"/>
          <p:cNvSpPr/>
          <p:nvPr/>
        </p:nvSpPr>
        <p:spPr>
          <a:xfrm>
            <a:off x="8476488" y="2148840"/>
            <a:ext cx="3273552" cy="274320"/>
          </a:xfrm>
          <a:prstGeom prst="rect">
            <a:avLst/>
          </a:prstGeom>
          <a:noFill/>
          <a:ln/>
        </p:spPr>
        <p:txBody>
          <a:bodyPr wrap="square" lIns="0" tIns="0" rIns="0" bIns="0" rtlCol="0" anchor="ctr"/>
          <a:lstStyle/>
          <a:p>
            <a:pPr indent="0" marL="0">
              <a:buNone/>
            </a:pPr>
            <a:r>
              <a:rPr lang="en-US" sz="1000" b="1" spc="300" kern="0" dirty="0">
                <a:solidFill>
                  <a:srgbClr val="0F766E"/>
                </a:solidFill>
                <a:latin typeface="Calibri" pitchFamily="34" charset="0"/>
                <a:ea typeface="Calibri" pitchFamily="34" charset="-122"/>
                <a:cs typeface="Calibri" pitchFamily="34" charset="-120"/>
              </a:rPr>
              <a:t>TOPICS  •  PROBABILISTIC</a:t>
            </a:r>
            <a:endParaRPr lang="en-US" sz="1000" dirty="0"/>
          </a:p>
        </p:txBody>
      </p:sp>
      <p:sp>
        <p:nvSpPr>
          <p:cNvPr id="25" name="Text 23"/>
          <p:cNvSpPr/>
          <p:nvPr/>
        </p:nvSpPr>
        <p:spPr>
          <a:xfrm>
            <a:off x="8476488" y="2468880"/>
            <a:ext cx="3273552" cy="64008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5-topic Latent Dirichlet Allocation</a:t>
            </a:r>
            <a:endParaRPr lang="en-US" sz="1200" dirty="0"/>
          </a:p>
        </p:txBody>
      </p:sp>
      <p:sp>
        <p:nvSpPr>
          <p:cNvPr id="26" name="Shape 24"/>
          <p:cNvSpPr/>
          <p:nvPr/>
        </p:nvSpPr>
        <p:spPr>
          <a:xfrm>
            <a:off x="8476488" y="3200400"/>
            <a:ext cx="3273552" cy="0"/>
          </a:xfrm>
          <a:prstGeom prst="line">
            <a:avLst/>
          </a:prstGeom>
          <a:noFill/>
          <a:ln w="12700">
            <a:solidFill>
              <a:srgbClr val="E2E8F0"/>
            </a:solidFill>
            <a:prstDash val="solid"/>
          </a:ln>
        </p:spPr>
      </p:sp>
      <p:sp>
        <p:nvSpPr>
          <p:cNvPr id="27" name="Text 25"/>
          <p:cNvSpPr/>
          <p:nvPr/>
        </p:nvSpPr>
        <p:spPr>
          <a:xfrm>
            <a:off x="8476488" y="3291840"/>
            <a:ext cx="3273552" cy="594360"/>
          </a:xfrm>
          <a:prstGeom prst="rect">
            <a:avLst/>
          </a:prstGeom>
          <a:noFill/>
          <a:ln/>
        </p:spPr>
        <p:txBody>
          <a:bodyPr wrap="square" lIns="0" tIns="0" rIns="0" bIns="0" rtlCol="0" anchor="t"/>
          <a:lstStyle/>
          <a:p>
            <a:pPr indent="0" marL="0">
              <a:buNone/>
            </a:pPr>
            <a:r>
              <a:rPr lang="en-US" sz="1200" i="1" dirty="0">
                <a:solidFill>
                  <a:srgbClr val="1F2937"/>
                </a:solidFill>
                <a:latin typeface="Calibri" pitchFamily="34" charset="0"/>
                <a:ea typeface="Calibri" pitchFamily="34" charset="-122"/>
                <a:cs typeface="Calibri" pitchFamily="34" charset="-120"/>
              </a:rPr>
              <a:t>What recurring themes appear across the corpus?</a:t>
            </a:r>
            <a:endParaRPr lang="en-US" sz="1200" dirty="0"/>
          </a:p>
        </p:txBody>
      </p:sp>
      <p:sp>
        <p:nvSpPr>
          <p:cNvPr id="28" name="Shape 26"/>
          <p:cNvSpPr/>
          <p:nvPr/>
        </p:nvSpPr>
        <p:spPr>
          <a:xfrm>
            <a:off x="457200" y="4114800"/>
            <a:ext cx="3730752" cy="2423160"/>
          </a:xfrm>
          <a:prstGeom prst="rect">
            <a:avLst/>
          </a:prstGeom>
          <a:solidFill>
            <a:srgbClr val="F8FAFC"/>
          </a:solidFill>
          <a:ln w="12700">
            <a:solidFill>
              <a:srgbClr val="E2E8F0"/>
            </a:solidFill>
            <a:prstDash val="solid"/>
          </a:ln>
        </p:spPr>
      </p:sp>
      <p:sp>
        <p:nvSpPr>
          <p:cNvPr id="29" name="Shape 27"/>
          <p:cNvSpPr/>
          <p:nvPr/>
        </p:nvSpPr>
        <p:spPr>
          <a:xfrm>
            <a:off x="457200" y="4114800"/>
            <a:ext cx="3730752" cy="502920"/>
          </a:xfrm>
          <a:prstGeom prst="rect">
            <a:avLst/>
          </a:prstGeom>
          <a:solidFill>
            <a:srgbClr val="1F2937"/>
          </a:solidFill>
          <a:ln/>
        </p:spPr>
      </p:sp>
      <p:sp>
        <p:nvSpPr>
          <p:cNvPr id="30" name="Text 28"/>
          <p:cNvSpPr/>
          <p:nvPr/>
        </p:nvSpPr>
        <p:spPr>
          <a:xfrm>
            <a:off x="685800" y="4233672"/>
            <a:ext cx="548640" cy="274320"/>
          </a:xfrm>
          <a:prstGeom prst="rect">
            <a:avLst/>
          </a:prstGeom>
          <a:noFill/>
          <a:ln/>
        </p:spPr>
        <p:txBody>
          <a:bodyPr wrap="square" lIns="0" tIns="0" rIns="0" bIns="0" rtlCol="0" anchor="ctr"/>
          <a:lstStyle/>
          <a:p>
            <a:pPr indent="0" marL="0">
              <a:buNone/>
            </a:pPr>
            <a:r>
              <a:rPr lang="en-US" sz="1200" b="1" spc="300" kern="0" dirty="0">
                <a:solidFill>
                  <a:srgbClr val="14B8A6"/>
                </a:solidFill>
                <a:latin typeface="Calibri" pitchFamily="34" charset="0"/>
                <a:ea typeface="Calibri" pitchFamily="34" charset="-122"/>
                <a:cs typeface="Calibri" pitchFamily="34" charset="-120"/>
              </a:rPr>
              <a:t>04</a:t>
            </a:r>
            <a:endParaRPr lang="en-US" sz="1200" dirty="0"/>
          </a:p>
        </p:txBody>
      </p:sp>
      <p:sp>
        <p:nvSpPr>
          <p:cNvPr id="31" name="Text 29"/>
          <p:cNvSpPr/>
          <p:nvPr/>
        </p:nvSpPr>
        <p:spPr>
          <a:xfrm>
            <a:off x="1234440" y="4215384"/>
            <a:ext cx="286207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BERTopic</a:t>
            </a:r>
            <a:endParaRPr lang="en-US" sz="1500" dirty="0"/>
          </a:p>
        </p:txBody>
      </p:sp>
      <p:sp>
        <p:nvSpPr>
          <p:cNvPr id="32" name="Text 30"/>
          <p:cNvSpPr/>
          <p:nvPr/>
        </p:nvSpPr>
        <p:spPr>
          <a:xfrm>
            <a:off x="685800" y="4754880"/>
            <a:ext cx="3273552" cy="274320"/>
          </a:xfrm>
          <a:prstGeom prst="rect">
            <a:avLst/>
          </a:prstGeom>
          <a:noFill/>
          <a:ln/>
        </p:spPr>
        <p:txBody>
          <a:bodyPr wrap="square" lIns="0" tIns="0" rIns="0" bIns="0" rtlCol="0" anchor="ctr"/>
          <a:lstStyle/>
          <a:p>
            <a:pPr indent="0" marL="0">
              <a:buNone/>
            </a:pPr>
            <a:r>
              <a:rPr lang="en-US" sz="1000" b="1" spc="300" kern="0" dirty="0">
                <a:solidFill>
                  <a:srgbClr val="0F766E"/>
                </a:solidFill>
                <a:latin typeface="Calibri" pitchFamily="34" charset="0"/>
                <a:ea typeface="Calibri" pitchFamily="34" charset="-122"/>
                <a:cs typeface="Calibri" pitchFamily="34" charset="-120"/>
              </a:rPr>
              <a:t>TOPICS  •  TRANSFORMER</a:t>
            </a:r>
            <a:endParaRPr lang="en-US" sz="1000" dirty="0"/>
          </a:p>
        </p:txBody>
      </p:sp>
      <p:sp>
        <p:nvSpPr>
          <p:cNvPr id="33" name="Text 31"/>
          <p:cNvSpPr/>
          <p:nvPr/>
        </p:nvSpPr>
        <p:spPr>
          <a:xfrm>
            <a:off x="685800" y="5074920"/>
            <a:ext cx="3273552" cy="64008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Sentence-transformer + UMAP + HDBSCAN</a:t>
            </a:r>
            <a:endParaRPr lang="en-US" sz="1200" dirty="0"/>
          </a:p>
        </p:txBody>
      </p:sp>
      <p:sp>
        <p:nvSpPr>
          <p:cNvPr id="34" name="Shape 32"/>
          <p:cNvSpPr/>
          <p:nvPr/>
        </p:nvSpPr>
        <p:spPr>
          <a:xfrm>
            <a:off x="685800" y="5806440"/>
            <a:ext cx="3273552" cy="0"/>
          </a:xfrm>
          <a:prstGeom prst="line">
            <a:avLst/>
          </a:prstGeom>
          <a:noFill/>
          <a:ln w="12700">
            <a:solidFill>
              <a:srgbClr val="E2E8F0"/>
            </a:solidFill>
            <a:prstDash val="solid"/>
          </a:ln>
        </p:spPr>
      </p:sp>
      <p:sp>
        <p:nvSpPr>
          <p:cNvPr id="35" name="Text 33"/>
          <p:cNvSpPr/>
          <p:nvPr/>
        </p:nvSpPr>
        <p:spPr>
          <a:xfrm>
            <a:off x="685800" y="5897880"/>
            <a:ext cx="3273552" cy="594360"/>
          </a:xfrm>
          <a:prstGeom prst="rect">
            <a:avLst/>
          </a:prstGeom>
          <a:noFill/>
          <a:ln/>
        </p:spPr>
        <p:txBody>
          <a:bodyPr wrap="square" lIns="0" tIns="0" rIns="0" bIns="0" rtlCol="0" anchor="t"/>
          <a:lstStyle/>
          <a:p>
            <a:pPr indent="0" marL="0">
              <a:buNone/>
            </a:pPr>
            <a:r>
              <a:rPr lang="en-US" sz="1200" i="1" dirty="0">
                <a:solidFill>
                  <a:srgbClr val="1F2937"/>
                </a:solidFill>
                <a:latin typeface="Calibri" pitchFamily="34" charset="0"/>
                <a:ea typeface="Calibri" pitchFamily="34" charset="-122"/>
                <a:cs typeface="Calibri" pitchFamily="34" charset="-120"/>
              </a:rPr>
              <a:t>Which themes differ between 1-star and 5-star reviewers?</a:t>
            </a:r>
            <a:endParaRPr lang="en-US" sz="1200" dirty="0"/>
          </a:p>
        </p:txBody>
      </p:sp>
      <p:sp>
        <p:nvSpPr>
          <p:cNvPr id="36" name="Shape 34"/>
          <p:cNvSpPr/>
          <p:nvPr/>
        </p:nvSpPr>
        <p:spPr>
          <a:xfrm>
            <a:off x="4352544" y="4114800"/>
            <a:ext cx="3730752" cy="2423160"/>
          </a:xfrm>
          <a:prstGeom prst="rect">
            <a:avLst/>
          </a:prstGeom>
          <a:solidFill>
            <a:srgbClr val="F8FAFC"/>
          </a:solidFill>
          <a:ln w="12700">
            <a:solidFill>
              <a:srgbClr val="E2E8F0"/>
            </a:solidFill>
            <a:prstDash val="solid"/>
          </a:ln>
        </p:spPr>
      </p:sp>
      <p:sp>
        <p:nvSpPr>
          <p:cNvPr id="37" name="Shape 35"/>
          <p:cNvSpPr/>
          <p:nvPr/>
        </p:nvSpPr>
        <p:spPr>
          <a:xfrm>
            <a:off x="4352544" y="4114800"/>
            <a:ext cx="3730752" cy="502920"/>
          </a:xfrm>
          <a:prstGeom prst="rect">
            <a:avLst/>
          </a:prstGeom>
          <a:solidFill>
            <a:srgbClr val="1F2937"/>
          </a:solidFill>
          <a:ln/>
        </p:spPr>
      </p:sp>
      <p:sp>
        <p:nvSpPr>
          <p:cNvPr id="38" name="Text 36"/>
          <p:cNvSpPr/>
          <p:nvPr/>
        </p:nvSpPr>
        <p:spPr>
          <a:xfrm>
            <a:off x="4581144" y="4233672"/>
            <a:ext cx="548640" cy="274320"/>
          </a:xfrm>
          <a:prstGeom prst="rect">
            <a:avLst/>
          </a:prstGeom>
          <a:noFill/>
          <a:ln/>
        </p:spPr>
        <p:txBody>
          <a:bodyPr wrap="square" lIns="0" tIns="0" rIns="0" bIns="0" rtlCol="0" anchor="ctr"/>
          <a:lstStyle/>
          <a:p>
            <a:pPr indent="0" marL="0">
              <a:buNone/>
            </a:pPr>
            <a:r>
              <a:rPr lang="en-US" sz="1200" b="1" spc="300" kern="0" dirty="0">
                <a:solidFill>
                  <a:srgbClr val="14B8A6"/>
                </a:solidFill>
                <a:latin typeface="Calibri" pitchFamily="34" charset="0"/>
                <a:ea typeface="Calibri" pitchFamily="34" charset="-122"/>
                <a:cs typeface="Calibri" pitchFamily="34" charset="-120"/>
              </a:rPr>
              <a:t>05</a:t>
            </a:r>
            <a:endParaRPr lang="en-US" sz="1200" dirty="0"/>
          </a:p>
        </p:txBody>
      </p:sp>
      <p:sp>
        <p:nvSpPr>
          <p:cNvPr id="39" name="Text 37"/>
          <p:cNvSpPr/>
          <p:nvPr/>
        </p:nvSpPr>
        <p:spPr>
          <a:xfrm>
            <a:off x="5129784" y="4215384"/>
            <a:ext cx="286207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TF-IDF + SVM</a:t>
            </a:r>
            <a:endParaRPr lang="en-US" sz="1500" dirty="0"/>
          </a:p>
        </p:txBody>
      </p:sp>
      <p:sp>
        <p:nvSpPr>
          <p:cNvPr id="40" name="Text 38"/>
          <p:cNvSpPr/>
          <p:nvPr/>
        </p:nvSpPr>
        <p:spPr>
          <a:xfrm>
            <a:off x="4581144" y="4754880"/>
            <a:ext cx="3273552" cy="274320"/>
          </a:xfrm>
          <a:prstGeom prst="rect">
            <a:avLst/>
          </a:prstGeom>
          <a:noFill/>
          <a:ln/>
        </p:spPr>
        <p:txBody>
          <a:bodyPr wrap="square" lIns="0" tIns="0" rIns="0" bIns="0" rtlCol="0" anchor="ctr"/>
          <a:lstStyle/>
          <a:p>
            <a:pPr indent="0" marL="0">
              <a:buNone/>
            </a:pPr>
            <a:r>
              <a:rPr lang="en-US" sz="1000" b="1" spc="300" kern="0" dirty="0">
                <a:solidFill>
                  <a:srgbClr val="0F766E"/>
                </a:solidFill>
                <a:latin typeface="Calibri" pitchFamily="34" charset="0"/>
                <a:ea typeface="Calibri" pitchFamily="34" charset="-122"/>
                <a:cs typeface="Calibri" pitchFamily="34" charset="-120"/>
              </a:rPr>
              <a:t>CLASSIFY  •  CLASSICAL</a:t>
            </a:r>
            <a:endParaRPr lang="en-US" sz="1000" dirty="0"/>
          </a:p>
        </p:txBody>
      </p:sp>
      <p:sp>
        <p:nvSpPr>
          <p:cNvPr id="41" name="Text 39"/>
          <p:cNvSpPr/>
          <p:nvPr/>
        </p:nvSpPr>
        <p:spPr>
          <a:xfrm>
            <a:off x="4581144" y="5074920"/>
            <a:ext cx="3273552" cy="64008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1-2 gram TF-IDF, Linear SVM</a:t>
            </a:r>
            <a:endParaRPr lang="en-US" sz="1200" dirty="0"/>
          </a:p>
        </p:txBody>
      </p:sp>
      <p:sp>
        <p:nvSpPr>
          <p:cNvPr id="42" name="Shape 40"/>
          <p:cNvSpPr/>
          <p:nvPr/>
        </p:nvSpPr>
        <p:spPr>
          <a:xfrm>
            <a:off x="4581144" y="5806440"/>
            <a:ext cx="3273552" cy="0"/>
          </a:xfrm>
          <a:prstGeom prst="line">
            <a:avLst/>
          </a:prstGeom>
          <a:noFill/>
          <a:ln w="12700">
            <a:solidFill>
              <a:srgbClr val="E2E8F0"/>
            </a:solidFill>
            <a:prstDash val="solid"/>
          </a:ln>
        </p:spPr>
      </p:sp>
      <p:sp>
        <p:nvSpPr>
          <p:cNvPr id="43" name="Text 41"/>
          <p:cNvSpPr/>
          <p:nvPr/>
        </p:nvSpPr>
        <p:spPr>
          <a:xfrm>
            <a:off x="4581144" y="5897880"/>
            <a:ext cx="3273552" cy="594360"/>
          </a:xfrm>
          <a:prstGeom prst="rect">
            <a:avLst/>
          </a:prstGeom>
          <a:noFill/>
          <a:ln/>
        </p:spPr>
        <p:txBody>
          <a:bodyPr wrap="square" lIns="0" tIns="0" rIns="0" bIns="0" rtlCol="0" anchor="t"/>
          <a:lstStyle/>
          <a:p>
            <a:pPr indent="0" marL="0">
              <a:buNone/>
            </a:pPr>
            <a:r>
              <a:rPr lang="en-US" sz="1200" i="1" dirty="0">
                <a:solidFill>
                  <a:srgbClr val="1F2937"/>
                </a:solidFill>
                <a:latin typeface="Calibri" pitchFamily="34" charset="0"/>
                <a:ea typeface="Calibri" pitchFamily="34" charset="-122"/>
                <a:cs typeface="Calibri" pitchFamily="34" charset="-120"/>
              </a:rPr>
              <a:t>Which words most strongly drive positive vs. negative?</a:t>
            </a:r>
            <a:endParaRPr lang="en-US" sz="1200" dirty="0"/>
          </a:p>
        </p:txBody>
      </p:sp>
      <p:sp>
        <p:nvSpPr>
          <p:cNvPr id="44" name="Shape 42"/>
          <p:cNvSpPr/>
          <p:nvPr/>
        </p:nvSpPr>
        <p:spPr>
          <a:xfrm>
            <a:off x="8247888" y="4114800"/>
            <a:ext cx="3730752" cy="2423160"/>
          </a:xfrm>
          <a:prstGeom prst="rect">
            <a:avLst/>
          </a:prstGeom>
          <a:solidFill>
            <a:srgbClr val="F8FAFC"/>
          </a:solidFill>
          <a:ln w="12700">
            <a:solidFill>
              <a:srgbClr val="E2E8F0"/>
            </a:solidFill>
            <a:prstDash val="solid"/>
          </a:ln>
        </p:spPr>
      </p:sp>
      <p:sp>
        <p:nvSpPr>
          <p:cNvPr id="45" name="Shape 43"/>
          <p:cNvSpPr/>
          <p:nvPr/>
        </p:nvSpPr>
        <p:spPr>
          <a:xfrm>
            <a:off x="8247888" y="4114800"/>
            <a:ext cx="3730752" cy="502920"/>
          </a:xfrm>
          <a:prstGeom prst="rect">
            <a:avLst/>
          </a:prstGeom>
          <a:solidFill>
            <a:srgbClr val="1F2937"/>
          </a:solidFill>
          <a:ln/>
        </p:spPr>
      </p:sp>
      <p:sp>
        <p:nvSpPr>
          <p:cNvPr id="46" name="Text 44"/>
          <p:cNvSpPr/>
          <p:nvPr/>
        </p:nvSpPr>
        <p:spPr>
          <a:xfrm>
            <a:off x="8476488" y="4233672"/>
            <a:ext cx="548640" cy="274320"/>
          </a:xfrm>
          <a:prstGeom prst="rect">
            <a:avLst/>
          </a:prstGeom>
          <a:noFill/>
          <a:ln/>
        </p:spPr>
        <p:txBody>
          <a:bodyPr wrap="square" lIns="0" tIns="0" rIns="0" bIns="0" rtlCol="0" anchor="ctr"/>
          <a:lstStyle/>
          <a:p>
            <a:pPr indent="0" marL="0">
              <a:buNone/>
            </a:pPr>
            <a:r>
              <a:rPr lang="en-US" sz="1200" b="1" spc="300" kern="0" dirty="0">
                <a:solidFill>
                  <a:srgbClr val="14B8A6"/>
                </a:solidFill>
                <a:latin typeface="Calibri" pitchFamily="34" charset="0"/>
                <a:ea typeface="Calibri" pitchFamily="34" charset="-122"/>
                <a:cs typeface="Calibri" pitchFamily="34" charset="-120"/>
              </a:rPr>
              <a:t>06</a:t>
            </a:r>
            <a:endParaRPr lang="en-US" sz="1200" dirty="0"/>
          </a:p>
        </p:txBody>
      </p:sp>
      <p:sp>
        <p:nvSpPr>
          <p:cNvPr id="47" name="Text 45"/>
          <p:cNvSpPr/>
          <p:nvPr/>
        </p:nvSpPr>
        <p:spPr>
          <a:xfrm>
            <a:off x="9025128" y="4215384"/>
            <a:ext cx="2862072"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GRU + GloVe</a:t>
            </a:r>
            <a:endParaRPr lang="en-US" sz="1500" dirty="0"/>
          </a:p>
        </p:txBody>
      </p:sp>
      <p:sp>
        <p:nvSpPr>
          <p:cNvPr id="48" name="Text 46"/>
          <p:cNvSpPr/>
          <p:nvPr/>
        </p:nvSpPr>
        <p:spPr>
          <a:xfrm>
            <a:off x="8476488" y="4754880"/>
            <a:ext cx="3273552" cy="274320"/>
          </a:xfrm>
          <a:prstGeom prst="rect">
            <a:avLst/>
          </a:prstGeom>
          <a:noFill/>
          <a:ln/>
        </p:spPr>
        <p:txBody>
          <a:bodyPr wrap="square" lIns="0" tIns="0" rIns="0" bIns="0" rtlCol="0" anchor="ctr"/>
          <a:lstStyle/>
          <a:p>
            <a:pPr indent="0" marL="0">
              <a:buNone/>
            </a:pPr>
            <a:r>
              <a:rPr lang="en-US" sz="1000" b="1" spc="300" kern="0" dirty="0">
                <a:solidFill>
                  <a:srgbClr val="0F766E"/>
                </a:solidFill>
                <a:latin typeface="Calibri" pitchFamily="34" charset="0"/>
                <a:ea typeface="Calibri" pitchFamily="34" charset="-122"/>
                <a:cs typeface="Calibri" pitchFamily="34" charset="-120"/>
              </a:rPr>
              <a:t>CLASSIFY  •  DEEP LEARN</a:t>
            </a:r>
            <a:endParaRPr lang="en-US" sz="1000" dirty="0"/>
          </a:p>
        </p:txBody>
      </p:sp>
      <p:sp>
        <p:nvSpPr>
          <p:cNvPr id="49" name="Text 47"/>
          <p:cNvSpPr/>
          <p:nvPr/>
        </p:nvSpPr>
        <p:spPr>
          <a:xfrm>
            <a:off x="8476488" y="5074920"/>
            <a:ext cx="3273552" cy="64008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Frozen GloVe embedding → GRU(64) → Dense</a:t>
            </a:r>
            <a:endParaRPr lang="en-US" sz="1200" dirty="0"/>
          </a:p>
        </p:txBody>
      </p:sp>
      <p:sp>
        <p:nvSpPr>
          <p:cNvPr id="50" name="Shape 48"/>
          <p:cNvSpPr/>
          <p:nvPr/>
        </p:nvSpPr>
        <p:spPr>
          <a:xfrm>
            <a:off x="8476488" y="5806440"/>
            <a:ext cx="3273552" cy="0"/>
          </a:xfrm>
          <a:prstGeom prst="line">
            <a:avLst/>
          </a:prstGeom>
          <a:noFill/>
          <a:ln w="12700">
            <a:solidFill>
              <a:srgbClr val="E2E8F0"/>
            </a:solidFill>
            <a:prstDash val="solid"/>
          </a:ln>
        </p:spPr>
      </p:sp>
      <p:sp>
        <p:nvSpPr>
          <p:cNvPr id="51" name="Text 49"/>
          <p:cNvSpPr/>
          <p:nvPr/>
        </p:nvSpPr>
        <p:spPr>
          <a:xfrm>
            <a:off x="8476488" y="5897880"/>
            <a:ext cx="3273552" cy="594360"/>
          </a:xfrm>
          <a:prstGeom prst="rect">
            <a:avLst/>
          </a:prstGeom>
          <a:noFill/>
          <a:ln/>
        </p:spPr>
        <p:txBody>
          <a:bodyPr wrap="square" lIns="0" tIns="0" rIns="0" bIns="0" rtlCol="0" anchor="t"/>
          <a:lstStyle/>
          <a:p>
            <a:pPr indent="0" marL="0">
              <a:buNone/>
            </a:pPr>
            <a:r>
              <a:rPr lang="en-US" sz="1200" i="1" dirty="0">
                <a:solidFill>
                  <a:srgbClr val="1F2937"/>
                </a:solidFill>
                <a:latin typeface="Calibri" pitchFamily="34" charset="0"/>
                <a:ea typeface="Calibri" pitchFamily="34" charset="-122"/>
                <a:cs typeface="Calibri" pitchFamily="34" charset="-120"/>
              </a:rPr>
              <a:t>Does sequence modeling beat bag-of-words on this task?</a:t>
            </a:r>
            <a:endParaRPr lang="en-US" sz="1200" dirty="0"/>
          </a:p>
        </p:txBody>
      </p:sp>
      <p:sp>
        <p:nvSpPr>
          <p:cNvPr id="52" name="Text 50"/>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53" name="Text 51"/>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06  •  METHOD 1: SENTIMENT</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VADER: language usually matches stars — except when it doesn't</a:t>
            </a:r>
            <a:endParaRPr lang="en-US" sz="3000" dirty="0"/>
          </a:p>
        </p:txBody>
      </p:sp>
      <p:sp>
        <p:nvSpPr>
          <p:cNvPr id="4" name="Shape 2"/>
          <p:cNvSpPr/>
          <p:nvPr/>
        </p:nvSpPr>
        <p:spPr>
          <a:xfrm>
            <a:off x="457200" y="1554480"/>
            <a:ext cx="4572000" cy="4572000"/>
          </a:xfrm>
          <a:prstGeom prst="rect">
            <a:avLst/>
          </a:prstGeom>
          <a:solidFill>
            <a:srgbClr val="1F2937"/>
          </a:solidFill>
          <a:ln/>
        </p:spPr>
      </p:sp>
      <p:sp>
        <p:nvSpPr>
          <p:cNvPr id="5" name="Text 3"/>
          <p:cNvSpPr/>
          <p:nvPr/>
        </p:nvSpPr>
        <p:spPr>
          <a:xfrm>
            <a:off x="640080" y="1737360"/>
            <a:ext cx="4206240" cy="320040"/>
          </a:xfrm>
          <a:prstGeom prst="rect">
            <a:avLst/>
          </a:prstGeom>
          <a:noFill/>
          <a:ln/>
        </p:spPr>
        <p:txBody>
          <a:bodyPr wrap="square" lIns="0" tIns="0" rIns="0" bIns="0" rtlCol="0" anchor="ctr"/>
          <a:lstStyle/>
          <a:p>
            <a:pPr indent="0" marL="0">
              <a:buNone/>
            </a:pPr>
            <a:r>
              <a:rPr lang="en-US" sz="1100" b="1" spc="400" kern="0" dirty="0">
                <a:solidFill>
                  <a:srgbClr val="14B8A6"/>
                </a:solidFill>
                <a:latin typeface="Calibri" pitchFamily="34" charset="0"/>
                <a:ea typeface="Calibri" pitchFamily="34" charset="-122"/>
                <a:cs typeface="Calibri" pitchFamily="34" charset="-120"/>
              </a:rPr>
              <a:t>VADER vs. STAR-BASED LABELS</a:t>
            </a:r>
            <a:endParaRPr lang="en-US" sz="1100" dirty="0"/>
          </a:p>
        </p:txBody>
      </p:sp>
      <p:sp>
        <p:nvSpPr>
          <p:cNvPr id="6" name="Text 4"/>
          <p:cNvSpPr/>
          <p:nvPr/>
        </p:nvSpPr>
        <p:spPr>
          <a:xfrm>
            <a:off x="640080" y="2103120"/>
            <a:ext cx="4206240" cy="1463040"/>
          </a:xfrm>
          <a:prstGeom prst="rect">
            <a:avLst/>
          </a:prstGeom>
          <a:noFill/>
          <a:ln/>
        </p:spPr>
        <p:txBody>
          <a:bodyPr wrap="square" lIns="0" tIns="0" rIns="0" bIns="0" rtlCol="0" anchor="ctr"/>
          <a:lstStyle/>
          <a:p>
            <a:pPr indent="0" marL="0">
              <a:buNone/>
            </a:pPr>
            <a:r>
              <a:rPr lang="en-US" sz="9600" b="1" dirty="0">
                <a:solidFill>
                  <a:srgbClr val="FFFFFF"/>
                </a:solidFill>
                <a:latin typeface="Calibri" pitchFamily="34" charset="0"/>
                <a:ea typeface="Calibri" pitchFamily="34" charset="-122"/>
                <a:cs typeface="Calibri" pitchFamily="34" charset="-120"/>
              </a:rPr>
              <a:t>91%</a:t>
            </a:r>
            <a:endParaRPr lang="en-US" sz="9600" dirty="0"/>
          </a:p>
        </p:txBody>
      </p:sp>
      <p:sp>
        <p:nvSpPr>
          <p:cNvPr id="7" name="Text 5"/>
          <p:cNvSpPr/>
          <p:nvPr/>
        </p:nvSpPr>
        <p:spPr>
          <a:xfrm>
            <a:off x="640080" y="3611880"/>
            <a:ext cx="4206240" cy="365760"/>
          </a:xfrm>
          <a:prstGeom prst="rect">
            <a:avLst/>
          </a:prstGeom>
          <a:noFill/>
          <a:ln/>
        </p:spPr>
        <p:txBody>
          <a:bodyPr wrap="square" lIns="0" tIns="0" rIns="0" bIns="0" rtlCol="0" anchor="ctr"/>
          <a:lstStyle/>
          <a:p>
            <a:pPr indent="0" marL="0">
              <a:buNone/>
            </a:pPr>
            <a:r>
              <a:rPr lang="en-US" sz="1400" i="1" dirty="0">
                <a:solidFill>
                  <a:srgbClr val="CBD5E1"/>
                </a:solidFill>
                <a:latin typeface="Calibri" pitchFamily="34" charset="0"/>
                <a:ea typeface="Calibri" pitchFamily="34" charset="-122"/>
                <a:cs typeface="Calibri" pitchFamily="34" charset="-120"/>
              </a:rPr>
              <a:t>agreement (weighted F1)</a:t>
            </a:r>
            <a:endParaRPr lang="en-US" sz="1400" dirty="0"/>
          </a:p>
        </p:txBody>
      </p:sp>
      <p:sp>
        <p:nvSpPr>
          <p:cNvPr id="8" name="Shape 6"/>
          <p:cNvSpPr/>
          <p:nvPr/>
        </p:nvSpPr>
        <p:spPr>
          <a:xfrm>
            <a:off x="640080" y="4160520"/>
            <a:ext cx="4206240" cy="0"/>
          </a:xfrm>
          <a:prstGeom prst="line">
            <a:avLst/>
          </a:prstGeom>
          <a:noFill/>
          <a:ln w="12700">
            <a:solidFill>
              <a:srgbClr val="374151"/>
            </a:solidFill>
            <a:prstDash val="solid"/>
          </a:ln>
        </p:spPr>
      </p:sp>
      <p:sp>
        <p:nvSpPr>
          <p:cNvPr id="9" name="Text 7"/>
          <p:cNvSpPr/>
          <p:nvPr/>
        </p:nvSpPr>
        <p:spPr>
          <a:xfrm>
            <a:off x="640080" y="4343400"/>
            <a:ext cx="4206240" cy="1554480"/>
          </a:xfrm>
          <a:prstGeom prst="rect">
            <a:avLst/>
          </a:prstGeom>
          <a:noFill/>
          <a:ln/>
        </p:spPr>
        <p:txBody>
          <a:bodyPr wrap="square" lIns="0" tIns="0" rIns="0" bIns="0" rtlCol="0" anchor="t"/>
          <a:lstStyle/>
          <a:p>
            <a:pPr indent="0" marL="0">
              <a:buNone/>
            </a:pPr>
            <a:r>
              <a:rPr lang="en-US" sz="1200" b="1" dirty="0">
                <a:solidFill>
                  <a:srgbClr val="14B8A6"/>
                </a:solidFill>
                <a:latin typeface="Calibri" pitchFamily="34" charset="0"/>
                <a:ea typeface="Calibri" pitchFamily="34" charset="-122"/>
                <a:cs typeface="Calibri" pitchFamily="34" charset="-120"/>
              </a:rPr>
              <a:t>POSITIVE class:  </a:t>
            </a:r>
            <a:pPr indent="0" marL="0">
              <a:buNone/>
            </a:pPr>
            <a:r>
              <a:rPr lang="en-US" sz="1300" dirty="0">
                <a:solidFill>
                  <a:srgbClr val="FFFFFF"/>
                </a:solidFill>
                <a:latin typeface="Calibri" pitchFamily="34" charset="0"/>
                <a:ea typeface="Calibri" pitchFamily="34" charset="-122"/>
                <a:cs typeface="Calibri" pitchFamily="34" charset="-120"/>
              </a:rPr>
              <a:t>F1 0.95   recall 0.99</a:t>
            </a:r>
            <a:endParaRPr lang="en-US" sz="12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FCA5A5"/>
                </a:solidFill>
                <a:latin typeface="Calibri" pitchFamily="34" charset="0"/>
                <a:ea typeface="Calibri" pitchFamily="34" charset="-122"/>
                <a:cs typeface="Calibri" pitchFamily="34" charset="-120"/>
              </a:rPr>
              <a:t>NEGATIVE class:  </a:t>
            </a:r>
            <a:pPr indent="0" marL="0">
              <a:buNone/>
            </a:pPr>
            <a:r>
              <a:rPr lang="en-US" sz="1300" dirty="0">
                <a:solidFill>
                  <a:srgbClr val="FFFFFF"/>
                </a:solidFill>
                <a:latin typeface="Calibri" pitchFamily="34" charset="0"/>
                <a:ea typeface="Calibri" pitchFamily="34" charset="-122"/>
                <a:cs typeface="Calibri" pitchFamily="34" charset="-120"/>
              </a:rPr>
              <a:t>F1 0.68   recall 0.55</a:t>
            </a:r>
            <a:endParaRPr lang="en-US" sz="1200" dirty="0"/>
          </a:p>
        </p:txBody>
      </p:sp>
      <p:sp>
        <p:nvSpPr>
          <p:cNvPr id="10" name="Text 8"/>
          <p:cNvSpPr/>
          <p:nvPr/>
        </p:nvSpPr>
        <p:spPr>
          <a:xfrm>
            <a:off x="5349240" y="1691640"/>
            <a:ext cx="6400800" cy="32004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WHAT THE NUMBERS SAY</a:t>
            </a:r>
            <a:endParaRPr lang="en-US" sz="1100" dirty="0"/>
          </a:p>
        </p:txBody>
      </p:sp>
      <p:sp>
        <p:nvSpPr>
          <p:cNvPr id="11" name="Text 9"/>
          <p:cNvSpPr/>
          <p:nvPr/>
        </p:nvSpPr>
        <p:spPr>
          <a:xfrm>
            <a:off x="5349240" y="2057400"/>
            <a:ext cx="6492240" cy="8686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Most positive reviews use the words you'd expect — "great," "love," "amazing." VADER catches them easily.</a:t>
            </a:r>
            <a:endParaRPr lang="en-US" sz="1400" dirty="0"/>
          </a:p>
        </p:txBody>
      </p:sp>
      <p:sp>
        <p:nvSpPr>
          <p:cNvPr id="12" name="Shape 10"/>
          <p:cNvSpPr/>
          <p:nvPr/>
        </p:nvSpPr>
        <p:spPr>
          <a:xfrm>
            <a:off x="5349240" y="3063240"/>
            <a:ext cx="6492240" cy="3017520"/>
          </a:xfrm>
          <a:prstGeom prst="rect">
            <a:avLst/>
          </a:prstGeom>
          <a:solidFill>
            <a:srgbClr val="CCFBF1"/>
          </a:solidFill>
          <a:ln w="12700">
            <a:solidFill>
              <a:srgbClr val="0F766E"/>
            </a:solidFill>
            <a:prstDash val="solid"/>
          </a:ln>
        </p:spPr>
      </p:sp>
      <p:sp>
        <p:nvSpPr>
          <p:cNvPr id="13" name="Text 11"/>
          <p:cNvSpPr/>
          <p:nvPr/>
        </p:nvSpPr>
        <p:spPr>
          <a:xfrm>
            <a:off x="5532120" y="3246120"/>
            <a:ext cx="6126480" cy="32004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THE INTERESTING CASES</a:t>
            </a:r>
            <a:endParaRPr lang="en-US" sz="1100" dirty="0"/>
          </a:p>
        </p:txBody>
      </p:sp>
      <p:sp>
        <p:nvSpPr>
          <p:cNvPr id="14" name="Text 12"/>
          <p:cNvSpPr/>
          <p:nvPr/>
        </p:nvSpPr>
        <p:spPr>
          <a:xfrm>
            <a:off x="5532120" y="3611880"/>
            <a:ext cx="6126480" cy="237744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Negative recall is only 0.55</a:t>
            </a:r>
            <a:endParaRPr lang="en-US" sz="1400" dirty="0"/>
          </a:p>
          <a:p>
            <a:pPr indent="0" marL="0">
              <a:buNone/>
            </a:pPr>
            <a:r>
              <a:rPr lang="en-US" sz="1300" dirty="0">
                <a:solidFill>
                  <a:srgbClr val="0F172A"/>
                </a:solidFill>
                <a:latin typeface="Calibri" pitchFamily="34" charset="0"/>
                <a:ea typeface="Calibri" pitchFamily="34" charset="-122"/>
                <a:cs typeface="Calibri" pitchFamily="34" charset="-120"/>
              </a:rPr>
              <a:t>VADER misses negative reviews when customers are polite about complaints — "the instructors were nice, but the contract was confusing." Mixed sentiment fools a polarity score.</a:t>
            </a:r>
            <a:endParaRPr lang="en-US" sz="14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300" b="1" dirty="0">
                <a:solidFill>
                  <a:srgbClr val="1F2937"/>
                </a:solidFill>
                <a:latin typeface="Calibri" pitchFamily="34" charset="0"/>
                <a:ea typeface="Calibri" pitchFamily="34" charset="-122"/>
                <a:cs typeface="Calibri" pitchFamily="34" charset="-120"/>
              </a:rPr>
              <a:t>Why this matters for an owner:</a:t>
            </a:r>
            <a:endParaRPr lang="en-US" sz="1400" dirty="0"/>
          </a:p>
          <a:p>
            <a:pPr indent="0" marL="0">
              <a:buNone/>
            </a:pPr>
            <a:r>
              <a:rPr lang="en-US" sz="1300" dirty="0">
                <a:solidFill>
                  <a:srgbClr val="0F172A"/>
                </a:solidFill>
                <a:latin typeface="Calibri" pitchFamily="34" charset="0"/>
                <a:ea typeface="Calibri" pitchFamily="34" charset="-122"/>
                <a:cs typeface="Calibri" pitchFamily="34" charset="-120"/>
              </a:rPr>
              <a:t>Mixed reviews are exactly the actionable ones — happy customer, specific complaint. Those are the gaps to close.</a:t>
            </a:r>
            <a:endParaRPr lang="en-US" sz="1400" dirty="0"/>
          </a:p>
        </p:txBody>
      </p:sp>
      <p:sp>
        <p:nvSpPr>
          <p:cNvPr id="15" name="Text 13"/>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16" name="Text 14"/>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07  •  METHOD 2: LLM SENTIMENT</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Llama 3.2 few-shot lifted negative-class F1 from 0.68 to 0.95</a:t>
            </a:r>
            <a:endParaRPr lang="en-US" sz="3000" dirty="0"/>
          </a:p>
        </p:txBody>
      </p:sp>
      <p:sp>
        <p:nvSpPr>
          <p:cNvPr id="4" name="Shape 2"/>
          <p:cNvSpPr/>
          <p:nvPr/>
        </p:nvSpPr>
        <p:spPr>
          <a:xfrm>
            <a:off x="457200" y="1554480"/>
            <a:ext cx="4572000" cy="4572000"/>
          </a:xfrm>
          <a:prstGeom prst="rect">
            <a:avLst/>
          </a:prstGeom>
          <a:solidFill>
            <a:srgbClr val="0F766E"/>
          </a:solidFill>
          <a:ln/>
        </p:spPr>
      </p:sp>
      <p:sp>
        <p:nvSpPr>
          <p:cNvPr id="5" name="Text 3"/>
          <p:cNvSpPr/>
          <p:nvPr/>
        </p:nvSpPr>
        <p:spPr>
          <a:xfrm>
            <a:off x="640080" y="1783080"/>
            <a:ext cx="4206240" cy="320040"/>
          </a:xfrm>
          <a:prstGeom prst="rect">
            <a:avLst/>
          </a:prstGeom>
          <a:noFill/>
          <a:ln/>
        </p:spPr>
        <p:txBody>
          <a:bodyPr wrap="square" lIns="0" tIns="0" rIns="0" bIns="0" rtlCol="0" anchor="ctr"/>
          <a:lstStyle/>
          <a:p>
            <a:pPr indent="0" marL="0">
              <a:buNone/>
            </a:pPr>
            <a:r>
              <a:rPr lang="en-US" sz="1100" b="1" spc="400" kern="0" dirty="0">
                <a:solidFill>
                  <a:srgbClr val="CCFBF1"/>
                </a:solidFill>
                <a:latin typeface="Calibri" pitchFamily="34" charset="0"/>
                <a:ea typeface="Calibri" pitchFamily="34" charset="-122"/>
                <a:cs typeface="Calibri" pitchFamily="34" charset="-120"/>
              </a:rPr>
              <a:t>LLAMA 3.2  •  FEW-SHOT</a:t>
            </a:r>
            <a:endParaRPr lang="en-US" sz="1100" dirty="0"/>
          </a:p>
        </p:txBody>
      </p:sp>
      <p:sp>
        <p:nvSpPr>
          <p:cNvPr id="6" name="Text 4"/>
          <p:cNvSpPr/>
          <p:nvPr/>
        </p:nvSpPr>
        <p:spPr>
          <a:xfrm>
            <a:off x="640080" y="2103120"/>
            <a:ext cx="4206240" cy="1737360"/>
          </a:xfrm>
          <a:prstGeom prst="rect">
            <a:avLst/>
          </a:prstGeom>
          <a:noFill/>
          <a:ln/>
        </p:spPr>
        <p:txBody>
          <a:bodyPr wrap="square" lIns="0" tIns="0" rIns="0" bIns="0" rtlCol="0" anchor="ctr"/>
          <a:lstStyle/>
          <a:p>
            <a:pPr indent="0" marL="0">
              <a:buNone/>
            </a:pPr>
            <a:r>
              <a:rPr lang="en-US" sz="11000" b="1" dirty="0">
                <a:solidFill>
                  <a:srgbClr val="FFFFFF"/>
                </a:solidFill>
                <a:latin typeface="Calibri" pitchFamily="34" charset="0"/>
                <a:ea typeface="Calibri" pitchFamily="34" charset="-122"/>
                <a:cs typeface="Calibri" pitchFamily="34" charset="-120"/>
              </a:rPr>
              <a:t>0.95</a:t>
            </a:r>
            <a:endParaRPr lang="en-US" sz="11000" dirty="0"/>
          </a:p>
        </p:txBody>
      </p:sp>
      <p:sp>
        <p:nvSpPr>
          <p:cNvPr id="7" name="Text 5"/>
          <p:cNvSpPr/>
          <p:nvPr/>
        </p:nvSpPr>
        <p:spPr>
          <a:xfrm>
            <a:off x="640080" y="3886200"/>
            <a:ext cx="4206240" cy="365760"/>
          </a:xfrm>
          <a:prstGeom prst="rect">
            <a:avLst/>
          </a:prstGeom>
          <a:noFill/>
          <a:ln/>
        </p:spPr>
        <p:txBody>
          <a:bodyPr wrap="square" lIns="0" tIns="0" rIns="0" bIns="0" rtlCol="0" anchor="ctr"/>
          <a:lstStyle/>
          <a:p>
            <a:pPr indent="0" marL="0">
              <a:buNone/>
            </a:pPr>
            <a:r>
              <a:rPr lang="en-US" sz="1400" i="1" dirty="0">
                <a:solidFill>
                  <a:srgbClr val="A7F3D0"/>
                </a:solidFill>
                <a:latin typeface="Calibri" pitchFamily="34" charset="0"/>
                <a:ea typeface="Calibri" pitchFamily="34" charset="-122"/>
                <a:cs typeface="Calibri" pitchFamily="34" charset="-120"/>
              </a:rPr>
              <a:t>F1 on the negative class</a:t>
            </a:r>
            <a:endParaRPr lang="en-US" sz="1400" dirty="0"/>
          </a:p>
        </p:txBody>
      </p:sp>
      <p:sp>
        <p:nvSpPr>
          <p:cNvPr id="8" name="Shape 6"/>
          <p:cNvSpPr/>
          <p:nvPr/>
        </p:nvSpPr>
        <p:spPr>
          <a:xfrm>
            <a:off x="640080" y="4434840"/>
            <a:ext cx="4206240" cy="0"/>
          </a:xfrm>
          <a:prstGeom prst="line">
            <a:avLst/>
          </a:prstGeom>
          <a:noFill/>
          <a:ln w="12700">
            <a:solidFill>
              <a:srgbClr val="0EA5A1"/>
            </a:solidFill>
            <a:prstDash val="solid"/>
          </a:ln>
        </p:spPr>
      </p:sp>
      <p:sp>
        <p:nvSpPr>
          <p:cNvPr id="9" name="Text 7"/>
          <p:cNvSpPr/>
          <p:nvPr/>
        </p:nvSpPr>
        <p:spPr>
          <a:xfrm>
            <a:off x="640080" y="4617720"/>
            <a:ext cx="4206240" cy="1463040"/>
          </a:xfrm>
          <a:prstGeom prst="rect">
            <a:avLst/>
          </a:prstGeom>
          <a:noFill/>
          <a:ln/>
        </p:spPr>
        <p:txBody>
          <a:bodyPr wrap="square" lIns="0" tIns="0" rIns="0" bIns="0" rtlCol="0" anchor="t"/>
          <a:lstStyle/>
          <a:p>
            <a:pPr indent="0" marL="0">
              <a:buNone/>
            </a:pPr>
            <a:r>
              <a:rPr lang="en-US" sz="1300" i="1" dirty="0">
                <a:solidFill>
                  <a:srgbClr val="CCFBF1"/>
                </a:solidFill>
                <a:latin typeface="Calibri" pitchFamily="34" charset="0"/>
                <a:ea typeface="Calibri" pitchFamily="34" charset="-122"/>
                <a:cs typeface="Calibri" pitchFamily="34" charset="-120"/>
              </a:rPr>
              <a:t>Same balanced 200-review sample</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CCFBF1"/>
                </a:solidFill>
                <a:latin typeface="Calibri" pitchFamily="34" charset="0"/>
                <a:ea typeface="Calibri" pitchFamily="34" charset="-122"/>
                <a:cs typeface="Calibri" pitchFamily="34" charset="-120"/>
              </a:rPr>
              <a:t>VADER:               </a:t>
            </a:r>
            <a:pPr indent="0" marL="0">
              <a:buNone/>
            </a:pPr>
            <a:r>
              <a:rPr lang="en-US" sz="1400" b="1" dirty="0">
                <a:solidFill>
                  <a:srgbClr val="FFFFFF"/>
                </a:solidFill>
                <a:latin typeface="Calibri" pitchFamily="34" charset="0"/>
                <a:ea typeface="Calibri" pitchFamily="34" charset="-122"/>
                <a:cs typeface="Calibri" pitchFamily="34" charset="-120"/>
              </a:rPr>
              <a:t>0.77</a:t>
            </a:r>
            <a:endParaRPr lang="en-US" sz="1300" dirty="0"/>
          </a:p>
          <a:p>
            <a:pPr indent="0" marL="0">
              <a:buNone/>
            </a:pPr>
            <a:r>
              <a:rPr lang="en-US" sz="1300" dirty="0">
                <a:solidFill>
                  <a:srgbClr val="CCFBF1"/>
                </a:solidFill>
                <a:latin typeface="Calibri" pitchFamily="34" charset="0"/>
                <a:ea typeface="Calibri" pitchFamily="34" charset="-122"/>
                <a:cs typeface="Calibri" pitchFamily="34" charset="-120"/>
              </a:rPr>
              <a:t>Llama Zero-Shot:  </a:t>
            </a:r>
            <a:pPr indent="0" marL="0">
              <a:buNone/>
            </a:pPr>
            <a:r>
              <a:rPr lang="en-US" sz="1400" b="1" dirty="0">
                <a:solidFill>
                  <a:srgbClr val="FFFFFF"/>
                </a:solidFill>
                <a:latin typeface="Calibri" pitchFamily="34" charset="0"/>
                <a:ea typeface="Calibri" pitchFamily="34" charset="-122"/>
                <a:cs typeface="Calibri" pitchFamily="34" charset="-120"/>
              </a:rPr>
              <a:t>0.84</a:t>
            </a:r>
            <a:endParaRPr lang="en-US" sz="1300" dirty="0"/>
          </a:p>
          <a:p>
            <a:pPr indent="0" marL="0">
              <a:buNone/>
            </a:pPr>
            <a:r>
              <a:rPr lang="en-US" sz="1300" dirty="0">
                <a:solidFill>
                  <a:srgbClr val="CCFBF1"/>
                </a:solidFill>
                <a:latin typeface="Calibri" pitchFamily="34" charset="0"/>
                <a:ea typeface="Calibri" pitchFamily="34" charset="-122"/>
                <a:cs typeface="Calibri" pitchFamily="34" charset="-120"/>
              </a:rPr>
              <a:t>Llama Few-Shot:   </a:t>
            </a:r>
            <a:pPr indent="0" marL="0">
              <a:buNone/>
            </a:pPr>
            <a:r>
              <a:rPr lang="en-US" sz="1400" b="1" dirty="0">
                <a:solidFill>
                  <a:srgbClr val="FFFFFF"/>
                </a:solidFill>
                <a:latin typeface="Calibri" pitchFamily="34" charset="0"/>
                <a:ea typeface="Calibri" pitchFamily="34" charset="-122"/>
                <a:cs typeface="Calibri" pitchFamily="34" charset="-120"/>
              </a:rPr>
              <a:t>0.95</a:t>
            </a:r>
            <a:endParaRPr lang="en-US" sz="1300" dirty="0"/>
          </a:p>
        </p:txBody>
      </p:sp>
      <p:sp>
        <p:nvSpPr>
          <p:cNvPr id="10" name="Text 8"/>
          <p:cNvSpPr/>
          <p:nvPr/>
        </p:nvSpPr>
        <p:spPr>
          <a:xfrm>
            <a:off x="5349240" y="1691640"/>
            <a:ext cx="6400800" cy="32004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WHY THE LIFT IS REAL</a:t>
            </a:r>
            <a:endParaRPr lang="en-US" sz="1100" dirty="0"/>
          </a:p>
        </p:txBody>
      </p:sp>
      <p:sp>
        <p:nvSpPr>
          <p:cNvPr id="11" name="Text 9"/>
          <p:cNvSpPr/>
          <p:nvPr/>
        </p:nvSpPr>
        <p:spPr>
          <a:xfrm>
            <a:off x="5349240" y="2057400"/>
            <a:ext cx="6492240"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Llama reads context. "The instructors were great, but the contract was a nightmare" registers as negative — VADER reads only the polite half.</a:t>
            </a:r>
            <a:endParaRPr lang="en-US" sz="1400" dirty="0"/>
          </a:p>
        </p:txBody>
      </p:sp>
      <p:sp>
        <p:nvSpPr>
          <p:cNvPr id="12" name="Shape 10"/>
          <p:cNvSpPr/>
          <p:nvPr/>
        </p:nvSpPr>
        <p:spPr>
          <a:xfrm>
            <a:off x="5349240" y="3200400"/>
            <a:ext cx="6492240" cy="2880360"/>
          </a:xfrm>
          <a:prstGeom prst="rect">
            <a:avLst/>
          </a:prstGeom>
          <a:solidFill>
            <a:srgbClr val="CCFBF1"/>
          </a:solidFill>
          <a:ln w="12700">
            <a:solidFill>
              <a:srgbClr val="0F766E"/>
            </a:solidFill>
            <a:prstDash val="solid"/>
          </a:ln>
        </p:spPr>
      </p:sp>
      <p:sp>
        <p:nvSpPr>
          <p:cNvPr id="13" name="Text 11"/>
          <p:cNvSpPr/>
          <p:nvPr/>
        </p:nvSpPr>
        <p:spPr>
          <a:xfrm>
            <a:off x="5532120" y="3383280"/>
            <a:ext cx="6126480" cy="32004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HOW FEW-SHOT WORKS</a:t>
            </a:r>
            <a:endParaRPr lang="en-US" sz="1100" dirty="0"/>
          </a:p>
        </p:txBody>
      </p:sp>
      <p:sp>
        <p:nvSpPr>
          <p:cNvPr id="14" name="Text 12"/>
          <p:cNvSpPr/>
          <p:nvPr/>
        </p:nvSpPr>
        <p:spPr>
          <a:xfrm>
            <a:off x="5532120" y="3749040"/>
            <a:ext cx="6126480" cy="22402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Prepend 4 labeled examples (2 positive + 2 negative) to each prompt.</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0F172A"/>
                </a:solidFill>
                <a:latin typeface="Calibri" pitchFamily="34" charset="0"/>
                <a:ea typeface="Calibri" pitchFamily="34" charset="-122"/>
                <a:cs typeface="Calibri" pitchFamily="34" charset="-120"/>
              </a:rPr>
              <a:t>Examples are drawn from outside the eval sample to prevent test-set leakage.</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Result: zero-shot 0.84  →  few-shot 0.95   </a:t>
            </a:r>
            <a:pPr indent="0" marL="0">
              <a:buNone/>
            </a:pPr>
            <a:r>
              <a:rPr lang="en-US" sz="1300" b="1" i="1" dirty="0">
                <a:solidFill>
                  <a:srgbClr val="0F766E"/>
                </a:solidFill>
                <a:latin typeface="Calibri" pitchFamily="34" charset="0"/>
                <a:ea typeface="Calibri" pitchFamily="34" charset="-122"/>
                <a:cs typeface="Calibri" pitchFamily="34" charset="-120"/>
              </a:rPr>
              <a:t>(+13%)</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200" i="1" dirty="0">
                <a:solidFill>
                  <a:srgbClr val="0F172A"/>
                </a:solidFill>
                <a:latin typeface="Calibri" pitchFamily="34" charset="0"/>
                <a:ea typeface="Calibri" pitchFamily="34" charset="-122"/>
                <a:cs typeface="Calibri" pitchFamily="34" charset="-120"/>
              </a:rPr>
              <a:t>The labeled examples anchor the binary scale and reduce ambiguous output formatting.</a:t>
            </a:r>
            <a:endParaRPr lang="en-US" sz="1300" dirty="0"/>
          </a:p>
        </p:txBody>
      </p:sp>
      <p:sp>
        <p:nvSpPr>
          <p:cNvPr id="15" name="Text 13"/>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16" name="Text 14"/>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07  •  METHOD 2: TOPICS</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LDA surfaced 5 themes — and customers care about coaching most</a:t>
            </a:r>
            <a:endParaRPr lang="en-US" sz="3000" dirty="0"/>
          </a:p>
        </p:txBody>
      </p:sp>
      <p:sp>
        <p:nvSpPr>
          <p:cNvPr id="4" name="Shape 2"/>
          <p:cNvSpPr/>
          <p:nvPr/>
        </p:nvSpPr>
        <p:spPr>
          <a:xfrm>
            <a:off x="457200" y="1554480"/>
            <a:ext cx="2139696" cy="3291840"/>
          </a:xfrm>
          <a:prstGeom prst="rect">
            <a:avLst/>
          </a:prstGeom>
          <a:solidFill>
            <a:srgbClr val="F8FAFC"/>
          </a:solidFill>
          <a:ln w="12700">
            <a:solidFill>
              <a:srgbClr val="E2E8F0"/>
            </a:solidFill>
            <a:prstDash val="solid"/>
          </a:ln>
        </p:spPr>
      </p:sp>
      <p:sp>
        <p:nvSpPr>
          <p:cNvPr id="5" name="Shape 3"/>
          <p:cNvSpPr/>
          <p:nvPr/>
        </p:nvSpPr>
        <p:spPr>
          <a:xfrm>
            <a:off x="457200" y="1554480"/>
            <a:ext cx="2139696" cy="73152"/>
          </a:xfrm>
          <a:prstGeom prst="rect">
            <a:avLst/>
          </a:prstGeom>
          <a:solidFill>
            <a:srgbClr val="DC2626"/>
          </a:solidFill>
          <a:ln/>
        </p:spPr>
      </p:sp>
      <p:sp>
        <p:nvSpPr>
          <p:cNvPr id="6" name="Text 4"/>
          <p:cNvSpPr/>
          <p:nvPr/>
        </p:nvSpPr>
        <p:spPr>
          <a:xfrm>
            <a:off x="640080" y="1737360"/>
            <a:ext cx="1773936" cy="274320"/>
          </a:xfrm>
          <a:prstGeom prst="rect">
            <a:avLst/>
          </a:prstGeom>
          <a:noFill/>
          <a:ln/>
        </p:spPr>
        <p:txBody>
          <a:bodyPr wrap="square" lIns="0" tIns="0" rIns="0" bIns="0" rtlCol="0" anchor="ctr"/>
          <a:lstStyle/>
          <a:p>
            <a:pPr indent="0" marL="0">
              <a:buNone/>
            </a:pPr>
            <a:r>
              <a:rPr lang="en-US" sz="1100" b="1" spc="300" kern="0" dirty="0">
                <a:solidFill>
                  <a:srgbClr val="64748B"/>
                </a:solidFill>
                <a:latin typeface="Calibri" pitchFamily="34" charset="0"/>
                <a:ea typeface="Calibri" pitchFamily="34" charset="-122"/>
                <a:cs typeface="Calibri" pitchFamily="34" charset="-120"/>
              </a:rPr>
              <a:t>T0</a:t>
            </a:r>
            <a:endParaRPr lang="en-US" sz="1100" dirty="0"/>
          </a:p>
        </p:txBody>
      </p:sp>
      <p:sp>
        <p:nvSpPr>
          <p:cNvPr id="7" name="Text 5"/>
          <p:cNvSpPr/>
          <p:nvPr/>
        </p:nvSpPr>
        <p:spPr>
          <a:xfrm>
            <a:off x="640080" y="2011680"/>
            <a:ext cx="1773936" cy="8686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Contract &amp; Membership</a:t>
            </a:r>
            <a:endParaRPr lang="en-US" sz="1500" dirty="0"/>
          </a:p>
        </p:txBody>
      </p:sp>
      <p:sp>
        <p:nvSpPr>
          <p:cNvPr id="8" name="Text 6"/>
          <p:cNvSpPr/>
          <p:nvPr/>
        </p:nvSpPr>
        <p:spPr>
          <a:xfrm>
            <a:off x="640080" y="2971800"/>
            <a:ext cx="1773936" cy="228600"/>
          </a:xfrm>
          <a:prstGeom prst="rect">
            <a:avLst/>
          </a:prstGeom>
          <a:noFill/>
          <a:ln/>
        </p:spPr>
        <p:txBody>
          <a:bodyPr wrap="square" lIns="0" tIns="0" rIns="0" bIns="0" rtlCol="0" anchor="ctr"/>
          <a:lstStyle/>
          <a:p>
            <a:pPr indent="0" marL="0">
              <a:buNone/>
            </a:pPr>
            <a:r>
              <a:rPr lang="en-US" sz="900" b="1" spc="300" kern="0" dirty="0">
                <a:solidFill>
                  <a:srgbClr val="64748B"/>
                </a:solidFill>
                <a:latin typeface="Calibri" pitchFamily="34" charset="0"/>
                <a:ea typeface="Calibri" pitchFamily="34" charset="-122"/>
                <a:cs typeface="Calibri" pitchFamily="34" charset="-120"/>
              </a:rPr>
              <a:t>TOP WORDS</a:t>
            </a:r>
            <a:endParaRPr lang="en-US" sz="900" dirty="0"/>
          </a:p>
        </p:txBody>
      </p:sp>
      <p:sp>
        <p:nvSpPr>
          <p:cNvPr id="9" name="Text 7"/>
          <p:cNvSpPr/>
          <p:nvPr/>
        </p:nvSpPr>
        <p:spPr>
          <a:xfrm>
            <a:off x="640080" y="3246120"/>
            <a:ext cx="1773936" cy="1463040"/>
          </a:xfrm>
          <a:prstGeom prst="rect">
            <a:avLst/>
          </a:prstGeom>
          <a:noFill/>
          <a:ln/>
        </p:spPr>
        <p:txBody>
          <a:bodyPr wrap="square" lIns="0" tIns="0" rIns="0" bIns="0" rtlCol="0" anchor="t"/>
          <a:lstStyle/>
          <a:p>
            <a:pPr indent="0" marL="0">
              <a:buNone/>
            </a:pPr>
            <a:r>
              <a:rPr lang="en-US" sz="1100" i="1" dirty="0">
                <a:solidFill>
                  <a:srgbClr val="0F172A"/>
                </a:solidFill>
                <a:latin typeface="Calibri" pitchFamily="34" charset="0"/>
                <a:ea typeface="Calibri" pitchFamily="34" charset="-122"/>
                <a:cs typeface="Calibri" pitchFamily="34" charset="-120"/>
              </a:rPr>
              <a:t>month, membership, contract, told, sign, said, didn't</a:t>
            </a:r>
            <a:endParaRPr lang="en-US" sz="1100" dirty="0"/>
          </a:p>
        </p:txBody>
      </p:sp>
      <p:sp>
        <p:nvSpPr>
          <p:cNvPr id="10" name="Shape 8"/>
          <p:cNvSpPr/>
          <p:nvPr/>
        </p:nvSpPr>
        <p:spPr>
          <a:xfrm>
            <a:off x="2734056" y="1554480"/>
            <a:ext cx="2139696" cy="3291840"/>
          </a:xfrm>
          <a:prstGeom prst="rect">
            <a:avLst/>
          </a:prstGeom>
          <a:solidFill>
            <a:srgbClr val="F8FAFC"/>
          </a:solidFill>
          <a:ln w="12700">
            <a:solidFill>
              <a:srgbClr val="E2E8F0"/>
            </a:solidFill>
            <a:prstDash val="solid"/>
          </a:ln>
        </p:spPr>
      </p:sp>
      <p:sp>
        <p:nvSpPr>
          <p:cNvPr id="11" name="Shape 9"/>
          <p:cNvSpPr/>
          <p:nvPr/>
        </p:nvSpPr>
        <p:spPr>
          <a:xfrm>
            <a:off x="2734056" y="1554480"/>
            <a:ext cx="2139696" cy="73152"/>
          </a:xfrm>
          <a:prstGeom prst="rect">
            <a:avLst/>
          </a:prstGeom>
          <a:solidFill>
            <a:srgbClr val="D97706"/>
          </a:solidFill>
          <a:ln/>
        </p:spPr>
      </p:sp>
      <p:sp>
        <p:nvSpPr>
          <p:cNvPr id="12" name="Text 10"/>
          <p:cNvSpPr/>
          <p:nvPr/>
        </p:nvSpPr>
        <p:spPr>
          <a:xfrm>
            <a:off x="2916936" y="1737360"/>
            <a:ext cx="1773936" cy="274320"/>
          </a:xfrm>
          <a:prstGeom prst="rect">
            <a:avLst/>
          </a:prstGeom>
          <a:noFill/>
          <a:ln/>
        </p:spPr>
        <p:txBody>
          <a:bodyPr wrap="square" lIns="0" tIns="0" rIns="0" bIns="0" rtlCol="0" anchor="ctr"/>
          <a:lstStyle/>
          <a:p>
            <a:pPr indent="0" marL="0">
              <a:buNone/>
            </a:pPr>
            <a:r>
              <a:rPr lang="en-US" sz="1100" b="1" spc="300" kern="0" dirty="0">
                <a:solidFill>
                  <a:srgbClr val="64748B"/>
                </a:solidFill>
                <a:latin typeface="Calibri" pitchFamily="34" charset="0"/>
                <a:ea typeface="Calibri" pitchFamily="34" charset="-122"/>
                <a:cs typeface="Calibri" pitchFamily="34" charset="-120"/>
              </a:rPr>
              <a:t>T1</a:t>
            </a:r>
            <a:endParaRPr lang="en-US" sz="1100" dirty="0"/>
          </a:p>
        </p:txBody>
      </p:sp>
      <p:sp>
        <p:nvSpPr>
          <p:cNvPr id="13" name="Text 11"/>
          <p:cNvSpPr/>
          <p:nvPr/>
        </p:nvSpPr>
        <p:spPr>
          <a:xfrm>
            <a:off x="2916936" y="2011680"/>
            <a:ext cx="1773936" cy="8686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Facility &amp; Equipment</a:t>
            </a:r>
            <a:endParaRPr lang="en-US" sz="1500" dirty="0"/>
          </a:p>
        </p:txBody>
      </p:sp>
      <p:sp>
        <p:nvSpPr>
          <p:cNvPr id="14" name="Text 12"/>
          <p:cNvSpPr/>
          <p:nvPr/>
        </p:nvSpPr>
        <p:spPr>
          <a:xfrm>
            <a:off x="2916936" y="2971800"/>
            <a:ext cx="1773936" cy="228600"/>
          </a:xfrm>
          <a:prstGeom prst="rect">
            <a:avLst/>
          </a:prstGeom>
          <a:noFill/>
          <a:ln/>
        </p:spPr>
        <p:txBody>
          <a:bodyPr wrap="square" lIns="0" tIns="0" rIns="0" bIns="0" rtlCol="0" anchor="ctr"/>
          <a:lstStyle/>
          <a:p>
            <a:pPr indent="0" marL="0">
              <a:buNone/>
            </a:pPr>
            <a:r>
              <a:rPr lang="en-US" sz="900" b="1" spc="300" kern="0" dirty="0">
                <a:solidFill>
                  <a:srgbClr val="64748B"/>
                </a:solidFill>
                <a:latin typeface="Calibri" pitchFamily="34" charset="0"/>
                <a:ea typeface="Calibri" pitchFamily="34" charset="-122"/>
                <a:cs typeface="Calibri" pitchFamily="34" charset="-120"/>
              </a:rPr>
              <a:t>TOP WORDS</a:t>
            </a:r>
            <a:endParaRPr lang="en-US" sz="900" dirty="0"/>
          </a:p>
        </p:txBody>
      </p:sp>
      <p:sp>
        <p:nvSpPr>
          <p:cNvPr id="15" name="Text 13"/>
          <p:cNvSpPr/>
          <p:nvPr/>
        </p:nvSpPr>
        <p:spPr>
          <a:xfrm>
            <a:off x="2916936" y="3246120"/>
            <a:ext cx="1773936" cy="1463040"/>
          </a:xfrm>
          <a:prstGeom prst="rect">
            <a:avLst/>
          </a:prstGeom>
          <a:noFill/>
          <a:ln/>
        </p:spPr>
        <p:txBody>
          <a:bodyPr wrap="square" lIns="0" tIns="0" rIns="0" bIns="0" rtlCol="0" anchor="t"/>
          <a:lstStyle/>
          <a:p>
            <a:pPr indent="0" marL="0">
              <a:buNone/>
            </a:pPr>
            <a:r>
              <a:rPr lang="en-US" sz="1100" i="1" dirty="0">
                <a:solidFill>
                  <a:srgbClr val="0F172A"/>
                </a:solidFill>
                <a:latin typeface="Calibri" pitchFamily="34" charset="0"/>
                <a:ea typeface="Calibri" pitchFamily="34" charset="-122"/>
                <a:cs typeface="Calibri" pitchFamily="34" charset="-120"/>
              </a:rPr>
              <a:t>gym, equipment, room, place, pool, nice, clean</a:t>
            </a:r>
            <a:endParaRPr lang="en-US" sz="1100" dirty="0"/>
          </a:p>
        </p:txBody>
      </p:sp>
      <p:sp>
        <p:nvSpPr>
          <p:cNvPr id="16" name="Shape 14"/>
          <p:cNvSpPr/>
          <p:nvPr/>
        </p:nvSpPr>
        <p:spPr>
          <a:xfrm>
            <a:off x="5010912" y="1554480"/>
            <a:ext cx="2139696" cy="3291840"/>
          </a:xfrm>
          <a:prstGeom prst="rect">
            <a:avLst/>
          </a:prstGeom>
          <a:solidFill>
            <a:srgbClr val="F8FAFC"/>
          </a:solidFill>
          <a:ln w="12700">
            <a:solidFill>
              <a:srgbClr val="E2E8F0"/>
            </a:solidFill>
            <a:prstDash val="solid"/>
          </a:ln>
        </p:spPr>
      </p:sp>
      <p:sp>
        <p:nvSpPr>
          <p:cNvPr id="17" name="Shape 15"/>
          <p:cNvSpPr/>
          <p:nvPr/>
        </p:nvSpPr>
        <p:spPr>
          <a:xfrm>
            <a:off x="5010912" y="1554480"/>
            <a:ext cx="2139696" cy="73152"/>
          </a:xfrm>
          <a:prstGeom prst="rect">
            <a:avLst/>
          </a:prstGeom>
          <a:solidFill>
            <a:srgbClr val="DC2626"/>
          </a:solidFill>
          <a:ln/>
        </p:spPr>
      </p:sp>
      <p:sp>
        <p:nvSpPr>
          <p:cNvPr id="18" name="Text 16"/>
          <p:cNvSpPr/>
          <p:nvPr/>
        </p:nvSpPr>
        <p:spPr>
          <a:xfrm>
            <a:off x="5193792" y="1737360"/>
            <a:ext cx="1773936" cy="274320"/>
          </a:xfrm>
          <a:prstGeom prst="rect">
            <a:avLst/>
          </a:prstGeom>
          <a:noFill/>
          <a:ln/>
        </p:spPr>
        <p:txBody>
          <a:bodyPr wrap="square" lIns="0" tIns="0" rIns="0" bIns="0" rtlCol="0" anchor="ctr"/>
          <a:lstStyle/>
          <a:p>
            <a:pPr indent="0" marL="0">
              <a:buNone/>
            </a:pPr>
            <a:r>
              <a:rPr lang="en-US" sz="1100" b="1" spc="300" kern="0" dirty="0">
                <a:solidFill>
                  <a:srgbClr val="64748B"/>
                </a:solidFill>
                <a:latin typeface="Calibri" pitchFamily="34" charset="0"/>
                <a:ea typeface="Calibri" pitchFamily="34" charset="-122"/>
                <a:cs typeface="Calibri" pitchFamily="34" charset="-120"/>
              </a:rPr>
              <a:t>T2</a:t>
            </a:r>
            <a:endParaRPr lang="en-US" sz="1100" dirty="0"/>
          </a:p>
        </p:txBody>
      </p:sp>
      <p:sp>
        <p:nvSpPr>
          <p:cNvPr id="19" name="Text 17"/>
          <p:cNvSpPr/>
          <p:nvPr/>
        </p:nvSpPr>
        <p:spPr>
          <a:xfrm>
            <a:off x="5193792" y="2011680"/>
            <a:ext cx="1773936" cy="8686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Customer Service</a:t>
            </a:r>
            <a:endParaRPr lang="en-US" sz="1500" dirty="0"/>
          </a:p>
        </p:txBody>
      </p:sp>
      <p:sp>
        <p:nvSpPr>
          <p:cNvPr id="20" name="Text 18"/>
          <p:cNvSpPr/>
          <p:nvPr/>
        </p:nvSpPr>
        <p:spPr>
          <a:xfrm>
            <a:off x="5193792" y="2971800"/>
            <a:ext cx="1773936" cy="228600"/>
          </a:xfrm>
          <a:prstGeom prst="rect">
            <a:avLst/>
          </a:prstGeom>
          <a:noFill/>
          <a:ln/>
        </p:spPr>
        <p:txBody>
          <a:bodyPr wrap="square" lIns="0" tIns="0" rIns="0" bIns="0" rtlCol="0" anchor="ctr"/>
          <a:lstStyle/>
          <a:p>
            <a:pPr indent="0" marL="0">
              <a:buNone/>
            </a:pPr>
            <a:r>
              <a:rPr lang="en-US" sz="900" b="1" spc="300" kern="0" dirty="0">
                <a:solidFill>
                  <a:srgbClr val="64748B"/>
                </a:solidFill>
                <a:latin typeface="Calibri" pitchFamily="34" charset="0"/>
                <a:ea typeface="Calibri" pitchFamily="34" charset="-122"/>
                <a:cs typeface="Calibri" pitchFamily="34" charset="-120"/>
              </a:rPr>
              <a:t>TOP WORDS</a:t>
            </a:r>
            <a:endParaRPr lang="en-US" sz="900" dirty="0"/>
          </a:p>
        </p:txBody>
      </p:sp>
      <p:sp>
        <p:nvSpPr>
          <p:cNvPr id="21" name="Text 19"/>
          <p:cNvSpPr/>
          <p:nvPr/>
        </p:nvSpPr>
        <p:spPr>
          <a:xfrm>
            <a:off x="5193792" y="3246120"/>
            <a:ext cx="1773936" cy="1463040"/>
          </a:xfrm>
          <a:prstGeom prst="rect">
            <a:avLst/>
          </a:prstGeom>
          <a:noFill/>
          <a:ln/>
        </p:spPr>
        <p:txBody>
          <a:bodyPr wrap="square" lIns="0" tIns="0" rIns="0" bIns="0" rtlCol="0" anchor="t"/>
          <a:lstStyle/>
          <a:p>
            <a:pPr indent="0" marL="0">
              <a:buNone/>
            </a:pPr>
            <a:r>
              <a:rPr lang="en-US" sz="1100" i="1" dirty="0">
                <a:solidFill>
                  <a:srgbClr val="0F172A"/>
                </a:solidFill>
                <a:latin typeface="Calibri" pitchFamily="34" charset="0"/>
                <a:ea typeface="Calibri" pitchFamily="34" charset="-122"/>
                <a:cs typeface="Calibri" pitchFamily="34" charset="-120"/>
              </a:rPr>
              <a:t>service, customer, business, party, owner, care, money, staff</a:t>
            </a:r>
            <a:endParaRPr lang="en-US" sz="1100" dirty="0"/>
          </a:p>
        </p:txBody>
      </p:sp>
      <p:sp>
        <p:nvSpPr>
          <p:cNvPr id="22" name="Shape 20"/>
          <p:cNvSpPr/>
          <p:nvPr/>
        </p:nvSpPr>
        <p:spPr>
          <a:xfrm>
            <a:off x="7287768" y="1554480"/>
            <a:ext cx="2139696" cy="3291840"/>
          </a:xfrm>
          <a:prstGeom prst="rect">
            <a:avLst/>
          </a:prstGeom>
          <a:solidFill>
            <a:srgbClr val="F8FAFC"/>
          </a:solidFill>
          <a:ln w="12700">
            <a:solidFill>
              <a:srgbClr val="E2E8F0"/>
            </a:solidFill>
            <a:prstDash val="solid"/>
          </a:ln>
        </p:spPr>
      </p:sp>
      <p:sp>
        <p:nvSpPr>
          <p:cNvPr id="23" name="Shape 21"/>
          <p:cNvSpPr/>
          <p:nvPr/>
        </p:nvSpPr>
        <p:spPr>
          <a:xfrm>
            <a:off x="7287768" y="1554480"/>
            <a:ext cx="2139696" cy="73152"/>
          </a:xfrm>
          <a:prstGeom prst="rect">
            <a:avLst/>
          </a:prstGeom>
          <a:solidFill>
            <a:srgbClr val="0F766E"/>
          </a:solidFill>
          <a:ln/>
        </p:spPr>
      </p:sp>
      <p:sp>
        <p:nvSpPr>
          <p:cNvPr id="24" name="Text 22"/>
          <p:cNvSpPr/>
          <p:nvPr/>
        </p:nvSpPr>
        <p:spPr>
          <a:xfrm>
            <a:off x="7470648" y="1737360"/>
            <a:ext cx="1773936" cy="274320"/>
          </a:xfrm>
          <a:prstGeom prst="rect">
            <a:avLst/>
          </a:prstGeom>
          <a:noFill/>
          <a:ln/>
        </p:spPr>
        <p:txBody>
          <a:bodyPr wrap="square" lIns="0" tIns="0" rIns="0" bIns="0" rtlCol="0" anchor="ctr"/>
          <a:lstStyle/>
          <a:p>
            <a:pPr indent="0" marL="0">
              <a:buNone/>
            </a:pPr>
            <a:r>
              <a:rPr lang="en-US" sz="1100" b="1" spc="300" kern="0" dirty="0">
                <a:solidFill>
                  <a:srgbClr val="64748B"/>
                </a:solidFill>
                <a:latin typeface="Calibri" pitchFamily="34" charset="0"/>
                <a:ea typeface="Calibri" pitchFamily="34" charset="-122"/>
                <a:cs typeface="Calibri" pitchFamily="34" charset="-120"/>
              </a:rPr>
              <a:t>T3</a:t>
            </a:r>
            <a:endParaRPr lang="en-US" sz="1100" dirty="0"/>
          </a:p>
        </p:txBody>
      </p:sp>
      <p:sp>
        <p:nvSpPr>
          <p:cNvPr id="25" name="Text 23"/>
          <p:cNvSpPr/>
          <p:nvPr/>
        </p:nvSpPr>
        <p:spPr>
          <a:xfrm>
            <a:off x="7470648" y="2011680"/>
            <a:ext cx="1773936" cy="8686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Workout Experience</a:t>
            </a:r>
            <a:endParaRPr lang="en-US" sz="1500" dirty="0"/>
          </a:p>
        </p:txBody>
      </p:sp>
      <p:sp>
        <p:nvSpPr>
          <p:cNvPr id="26" name="Text 24"/>
          <p:cNvSpPr/>
          <p:nvPr/>
        </p:nvSpPr>
        <p:spPr>
          <a:xfrm>
            <a:off x="7470648" y="2971800"/>
            <a:ext cx="1773936" cy="228600"/>
          </a:xfrm>
          <a:prstGeom prst="rect">
            <a:avLst/>
          </a:prstGeom>
          <a:noFill/>
          <a:ln/>
        </p:spPr>
        <p:txBody>
          <a:bodyPr wrap="square" lIns="0" tIns="0" rIns="0" bIns="0" rtlCol="0" anchor="ctr"/>
          <a:lstStyle/>
          <a:p>
            <a:pPr indent="0" marL="0">
              <a:buNone/>
            </a:pPr>
            <a:r>
              <a:rPr lang="en-US" sz="900" b="1" spc="300" kern="0" dirty="0">
                <a:solidFill>
                  <a:srgbClr val="64748B"/>
                </a:solidFill>
                <a:latin typeface="Calibri" pitchFamily="34" charset="0"/>
                <a:ea typeface="Calibri" pitchFamily="34" charset="-122"/>
                <a:cs typeface="Calibri" pitchFamily="34" charset="-120"/>
              </a:rPr>
              <a:t>TOP WORDS</a:t>
            </a:r>
            <a:endParaRPr lang="en-US" sz="900" dirty="0"/>
          </a:p>
        </p:txBody>
      </p:sp>
      <p:sp>
        <p:nvSpPr>
          <p:cNvPr id="27" name="Text 25"/>
          <p:cNvSpPr/>
          <p:nvPr/>
        </p:nvSpPr>
        <p:spPr>
          <a:xfrm>
            <a:off x="7470648" y="3246120"/>
            <a:ext cx="1773936" cy="1463040"/>
          </a:xfrm>
          <a:prstGeom prst="rect">
            <a:avLst/>
          </a:prstGeom>
          <a:noFill/>
          <a:ln/>
        </p:spPr>
        <p:txBody>
          <a:bodyPr wrap="square" lIns="0" tIns="0" rIns="0" bIns="0" rtlCol="0" anchor="t"/>
          <a:lstStyle/>
          <a:p>
            <a:pPr indent="0" marL="0">
              <a:buNone/>
            </a:pPr>
            <a:r>
              <a:rPr lang="en-US" sz="1100" i="1" dirty="0">
                <a:solidFill>
                  <a:srgbClr val="0F172A"/>
                </a:solidFill>
                <a:latin typeface="Calibri" pitchFamily="34" charset="0"/>
                <a:ea typeface="Calibri" pitchFamily="34" charset="-122"/>
                <a:cs typeface="Calibri" pitchFamily="34" charset="-120"/>
              </a:rPr>
              <a:t>class, workout, great, classes, love, work, time, feel</a:t>
            </a:r>
            <a:endParaRPr lang="en-US" sz="1100" dirty="0"/>
          </a:p>
        </p:txBody>
      </p:sp>
      <p:sp>
        <p:nvSpPr>
          <p:cNvPr id="28" name="Shape 26"/>
          <p:cNvSpPr/>
          <p:nvPr/>
        </p:nvSpPr>
        <p:spPr>
          <a:xfrm>
            <a:off x="9564624" y="1554480"/>
            <a:ext cx="2139696" cy="3291840"/>
          </a:xfrm>
          <a:prstGeom prst="rect">
            <a:avLst/>
          </a:prstGeom>
          <a:solidFill>
            <a:srgbClr val="F8FAFC"/>
          </a:solidFill>
          <a:ln w="12700">
            <a:solidFill>
              <a:srgbClr val="E2E8F0"/>
            </a:solidFill>
            <a:prstDash val="solid"/>
          </a:ln>
        </p:spPr>
      </p:sp>
      <p:sp>
        <p:nvSpPr>
          <p:cNvPr id="29" name="Shape 27"/>
          <p:cNvSpPr/>
          <p:nvPr/>
        </p:nvSpPr>
        <p:spPr>
          <a:xfrm>
            <a:off x="9564624" y="1554480"/>
            <a:ext cx="2139696" cy="73152"/>
          </a:xfrm>
          <a:prstGeom prst="rect">
            <a:avLst/>
          </a:prstGeom>
          <a:solidFill>
            <a:srgbClr val="0F766E"/>
          </a:solidFill>
          <a:ln/>
        </p:spPr>
      </p:sp>
      <p:sp>
        <p:nvSpPr>
          <p:cNvPr id="30" name="Text 28"/>
          <p:cNvSpPr/>
          <p:nvPr/>
        </p:nvSpPr>
        <p:spPr>
          <a:xfrm>
            <a:off x="9747504" y="1737360"/>
            <a:ext cx="1773936" cy="274320"/>
          </a:xfrm>
          <a:prstGeom prst="rect">
            <a:avLst/>
          </a:prstGeom>
          <a:noFill/>
          <a:ln/>
        </p:spPr>
        <p:txBody>
          <a:bodyPr wrap="square" lIns="0" tIns="0" rIns="0" bIns="0" rtlCol="0" anchor="ctr"/>
          <a:lstStyle/>
          <a:p>
            <a:pPr indent="0" marL="0">
              <a:buNone/>
            </a:pPr>
            <a:r>
              <a:rPr lang="en-US" sz="1100" b="1" spc="300" kern="0" dirty="0">
                <a:solidFill>
                  <a:srgbClr val="64748B"/>
                </a:solidFill>
                <a:latin typeface="Calibri" pitchFamily="34" charset="0"/>
                <a:ea typeface="Calibri" pitchFamily="34" charset="-122"/>
                <a:cs typeface="Calibri" pitchFamily="34" charset="-120"/>
              </a:rPr>
              <a:t>T4</a:t>
            </a:r>
            <a:endParaRPr lang="en-US" sz="1100" dirty="0"/>
          </a:p>
        </p:txBody>
      </p:sp>
      <p:sp>
        <p:nvSpPr>
          <p:cNvPr id="31" name="Text 29"/>
          <p:cNvSpPr/>
          <p:nvPr/>
        </p:nvSpPr>
        <p:spPr>
          <a:xfrm>
            <a:off x="9747504" y="2011680"/>
            <a:ext cx="1773936" cy="8686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Coaching &amp; Kids Programs</a:t>
            </a:r>
            <a:endParaRPr lang="en-US" sz="1500" dirty="0"/>
          </a:p>
        </p:txBody>
      </p:sp>
      <p:sp>
        <p:nvSpPr>
          <p:cNvPr id="32" name="Text 30"/>
          <p:cNvSpPr/>
          <p:nvPr/>
        </p:nvSpPr>
        <p:spPr>
          <a:xfrm>
            <a:off x="9747504" y="2971800"/>
            <a:ext cx="1773936" cy="228600"/>
          </a:xfrm>
          <a:prstGeom prst="rect">
            <a:avLst/>
          </a:prstGeom>
          <a:noFill/>
          <a:ln/>
        </p:spPr>
        <p:txBody>
          <a:bodyPr wrap="square" lIns="0" tIns="0" rIns="0" bIns="0" rtlCol="0" anchor="ctr"/>
          <a:lstStyle/>
          <a:p>
            <a:pPr indent="0" marL="0">
              <a:buNone/>
            </a:pPr>
            <a:r>
              <a:rPr lang="en-US" sz="900" b="1" spc="300" kern="0" dirty="0">
                <a:solidFill>
                  <a:srgbClr val="64748B"/>
                </a:solidFill>
                <a:latin typeface="Calibri" pitchFamily="34" charset="0"/>
                <a:ea typeface="Calibri" pitchFamily="34" charset="-122"/>
                <a:cs typeface="Calibri" pitchFamily="34" charset="-120"/>
              </a:rPr>
              <a:t>TOP WORDS</a:t>
            </a:r>
            <a:endParaRPr lang="en-US" sz="900" dirty="0"/>
          </a:p>
        </p:txBody>
      </p:sp>
      <p:sp>
        <p:nvSpPr>
          <p:cNvPr id="33" name="Text 31"/>
          <p:cNvSpPr/>
          <p:nvPr/>
        </p:nvSpPr>
        <p:spPr>
          <a:xfrm>
            <a:off x="9747504" y="3246120"/>
            <a:ext cx="1773936" cy="1463040"/>
          </a:xfrm>
          <a:prstGeom prst="rect">
            <a:avLst/>
          </a:prstGeom>
          <a:noFill/>
          <a:ln/>
        </p:spPr>
        <p:txBody>
          <a:bodyPr wrap="square" lIns="0" tIns="0" rIns="0" bIns="0" rtlCol="0" anchor="t"/>
          <a:lstStyle/>
          <a:p>
            <a:pPr indent="0" marL="0">
              <a:buNone/>
            </a:pPr>
            <a:r>
              <a:rPr lang="en-US" sz="1100" i="1" dirty="0">
                <a:solidFill>
                  <a:srgbClr val="0F172A"/>
                </a:solidFill>
                <a:latin typeface="Calibri" pitchFamily="34" charset="0"/>
                <a:ea typeface="Calibri" pitchFamily="34" charset="-122"/>
                <a:cs typeface="Calibri" pitchFamily="34" charset="-120"/>
              </a:rPr>
              <a:t>great, martial, training, kids, arts, students, school, instructors</a:t>
            </a:r>
            <a:endParaRPr lang="en-US" sz="1100" dirty="0"/>
          </a:p>
        </p:txBody>
      </p:sp>
      <p:sp>
        <p:nvSpPr>
          <p:cNvPr id="34" name="Text 32"/>
          <p:cNvSpPr/>
          <p:nvPr/>
        </p:nvSpPr>
        <p:spPr>
          <a:xfrm>
            <a:off x="457200" y="4983480"/>
            <a:ext cx="1124712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HOW MANY REVIEWS FALL INTO EACH TOPIC</a:t>
            </a:r>
            <a:endParaRPr lang="en-US" sz="1100" dirty="0"/>
          </a:p>
        </p:txBody>
      </p:sp>
      <p:graphicFrame>
        <p:nvGraphicFramePr>
          <p:cNvPr id="35" name="Chart 0" descr=""/>
          <p:cNvGraphicFramePr/>
          <p:nvPr/>
        </p:nvGraphicFramePr>
        <p:xfrm>
          <a:off x="457200" y="5257800"/>
          <a:ext cx="11247120" cy="109728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37" name="Text 34"/>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07  •  METHOD 4: TRANSFORMER TOPICS</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BERTopic adds the most business-relevant view: themes by star rating</a:t>
            </a:r>
            <a:endParaRPr lang="en-US" sz="3000" dirty="0"/>
          </a:p>
        </p:txBody>
      </p:sp>
      <p:sp>
        <p:nvSpPr>
          <p:cNvPr id="4" name="Shape 2"/>
          <p:cNvSpPr/>
          <p:nvPr/>
        </p:nvSpPr>
        <p:spPr>
          <a:xfrm>
            <a:off x="457200" y="1554480"/>
            <a:ext cx="5029200" cy="4572000"/>
          </a:xfrm>
          <a:prstGeom prst="rect">
            <a:avLst/>
          </a:prstGeom>
          <a:solidFill>
            <a:srgbClr val="F8FAFC"/>
          </a:solidFill>
          <a:ln w="12700">
            <a:solidFill>
              <a:srgbClr val="E2E8F0"/>
            </a:solidFill>
            <a:prstDash val="solid"/>
          </a:ln>
        </p:spPr>
      </p:sp>
      <p:sp>
        <p:nvSpPr>
          <p:cNvPr id="5" name="Text 3"/>
          <p:cNvSpPr/>
          <p:nvPr/>
        </p:nvSpPr>
        <p:spPr>
          <a:xfrm>
            <a:off x="640080" y="1737360"/>
            <a:ext cx="466344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LDA  vs.  BERTopic</a:t>
            </a:r>
            <a:endParaRPr lang="en-US" sz="1600" dirty="0"/>
          </a:p>
        </p:txBody>
      </p:sp>
      <p:sp>
        <p:nvSpPr>
          <p:cNvPr id="6" name="Shape 4"/>
          <p:cNvSpPr/>
          <p:nvPr/>
        </p:nvSpPr>
        <p:spPr>
          <a:xfrm>
            <a:off x="640080" y="2286000"/>
            <a:ext cx="73152" cy="1554480"/>
          </a:xfrm>
          <a:prstGeom prst="rect">
            <a:avLst/>
          </a:prstGeom>
          <a:solidFill>
            <a:srgbClr val="94A3B8"/>
          </a:solidFill>
          <a:ln/>
        </p:spPr>
      </p:sp>
      <p:sp>
        <p:nvSpPr>
          <p:cNvPr id="7" name="Text 5"/>
          <p:cNvSpPr/>
          <p:nvPr/>
        </p:nvSpPr>
        <p:spPr>
          <a:xfrm>
            <a:off x="868680" y="2286000"/>
            <a:ext cx="4572000" cy="320040"/>
          </a:xfrm>
          <a:prstGeom prst="rect">
            <a:avLst/>
          </a:prstGeom>
          <a:noFill/>
          <a:ln/>
        </p:spPr>
        <p:txBody>
          <a:bodyPr wrap="square" lIns="0" tIns="0" rIns="0" bIns="0" rtlCol="0" anchor="ctr"/>
          <a:lstStyle/>
          <a:p>
            <a:pPr indent="0" marL="0">
              <a:buNone/>
            </a:pPr>
            <a:r>
              <a:rPr lang="en-US" sz="1300" b="1" spc="300" kern="0" dirty="0">
                <a:solidFill>
                  <a:srgbClr val="64748B"/>
                </a:solidFill>
                <a:latin typeface="Calibri" pitchFamily="34" charset="0"/>
                <a:ea typeface="Calibri" pitchFamily="34" charset="-122"/>
                <a:cs typeface="Calibri" pitchFamily="34" charset="-120"/>
              </a:rPr>
              <a:t>LDA</a:t>
            </a:r>
            <a:endParaRPr lang="en-US" sz="1300" dirty="0"/>
          </a:p>
        </p:txBody>
      </p:sp>
      <p:sp>
        <p:nvSpPr>
          <p:cNvPr id="8" name="Text 6"/>
          <p:cNvSpPr/>
          <p:nvPr/>
        </p:nvSpPr>
        <p:spPr>
          <a:xfrm>
            <a:off x="868680" y="2606040"/>
            <a:ext cx="4572000" cy="11887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Bag-of-words. Treats "coach" and "instructor" as unrelated tokens. Topics are interpretable but coarse.</a:t>
            </a:r>
            <a:endParaRPr lang="en-US" sz="1300" dirty="0"/>
          </a:p>
        </p:txBody>
      </p:sp>
      <p:sp>
        <p:nvSpPr>
          <p:cNvPr id="9" name="Shape 7"/>
          <p:cNvSpPr/>
          <p:nvPr/>
        </p:nvSpPr>
        <p:spPr>
          <a:xfrm>
            <a:off x="640080" y="4023360"/>
            <a:ext cx="73152" cy="1920240"/>
          </a:xfrm>
          <a:prstGeom prst="rect">
            <a:avLst/>
          </a:prstGeom>
          <a:solidFill>
            <a:srgbClr val="0F766E"/>
          </a:solidFill>
          <a:ln/>
        </p:spPr>
      </p:sp>
      <p:sp>
        <p:nvSpPr>
          <p:cNvPr id="10" name="Text 8"/>
          <p:cNvSpPr/>
          <p:nvPr/>
        </p:nvSpPr>
        <p:spPr>
          <a:xfrm>
            <a:off x="868680" y="4023360"/>
            <a:ext cx="4572000" cy="320040"/>
          </a:xfrm>
          <a:prstGeom prst="rect">
            <a:avLst/>
          </a:prstGeom>
          <a:noFill/>
          <a:ln/>
        </p:spPr>
        <p:txBody>
          <a:bodyPr wrap="square" lIns="0" tIns="0" rIns="0" bIns="0" rtlCol="0" anchor="ctr"/>
          <a:lstStyle/>
          <a:p>
            <a:pPr indent="0" marL="0">
              <a:buNone/>
            </a:pPr>
            <a:r>
              <a:rPr lang="en-US" sz="1300" b="1" spc="300" kern="0" dirty="0">
                <a:solidFill>
                  <a:srgbClr val="0F766E"/>
                </a:solidFill>
                <a:latin typeface="Calibri" pitchFamily="34" charset="0"/>
                <a:ea typeface="Calibri" pitchFamily="34" charset="-122"/>
                <a:cs typeface="Calibri" pitchFamily="34" charset="-120"/>
              </a:rPr>
              <a:t>BERTopic</a:t>
            </a:r>
            <a:endParaRPr lang="en-US" sz="1300" dirty="0"/>
          </a:p>
        </p:txBody>
      </p:sp>
      <p:sp>
        <p:nvSpPr>
          <p:cNvPr id="11" name="Text 9"/>
          <p:cNvSpPr/>
          <p:nvPr/>
        </p:nvSpPr>
        <p:spPr>
          <a:xfrm>
            <a:off x="868680" y="4343400"/>
            <a:ext cx="4572000" cy="155448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Sentence-transformer embeddings → UMAP → HDBSCAN. Words like "coach," "instructor," "sensei," and "teacher" cluster together automatically.</a:t>
            </a:r>
            <a:endParaRPr lang="en-US" sz="1300" dirty="0"/>
          </a:p>
        </p:txBody>
      </p:sp>
      <p:sp>
        <p:nvSpPr>
          <p:cNvPr id="12" name="Shape 10"/>
          <p:cNvSpPr/>
          <p:nvPr/>
        </p:nvSpPr>
        <p:spPr>
          <a:xfrm>
            <a:off x="5760720" y="1554480"/>
            <a:ext cx="5943600" cy="4572000"/>
          </a:xfrm>
          <a:prstGeom prst="rect">
            <a:avLst/>
          </a:prstGeom>
          <a:solidFill>
            <a:srgbClr val="1F2937"/>
          </a:solidFill>
          <a:ln/>
        </p:spPr>
      </p:sp>
      <p:sp>
        <p:nvSpPr>
          <p:cNvPr id="13" name="Shape 11"/>
          <p:cNvSpPr/>
          <p:nvPr/>
        </p:nvSpPr>
        <p:spPr>
          <a:xfrm>
            <a:off x="5760720" y="1554480"/>
            <a:ext cx="109728" cy="4572000"/>
          </a:xfrm>
          <a:prstGeom prst="rect">
            <a:avLst/>
          </a:prstGeom>
          <a:solidFill>
            <a:srgbClr val="14B8A6"/>
          </a:solidFill>
          <a:ln/>
        </p:spPr>
      </p:sp>
      <p:sp>
        <p:nvSpPr>
          <p:cNvPr id="14" name="Text 12"/>
          <p:cNvSpPr/>
          <p:nvPr/>
        </p:nvSpPr>
        <p:spPr>
          <a:xfrm>
            <a:off x="5989320" y="1783080"/>
            <a:ext cx="5486400" cy="320040"/>
          </a:xfrm>
          <a:prstGeom prst="rect">
            <a:avLst/>
          </a:prstGeom>
          <a:noFill/>
          <a:ln/>
        </p:spPr>
        <p:txBody>
          <a:bodyPr wrap="square" lIns="0" tIns="0" rIns="0" bIns="0" rtlCol="0" anchor="ctr"/>
          <a:lstStyle/>
          <a:p>
            <a:pPr indent="0" marL="0">
              <a:buNone/>
            </a:pPr>
            <a:r>
              <a:rPr lang="en-US" sz="1100" b="1" spc="400" kern="0" dirty="0">
                <a:solidFill>
                  <a:srgbClr val="14B8A6"/>
                </a:solidFill>
                <a:latin typeface="Calibri" pitchFamily="34" charset="0"/>
                <a:ea typeface="Calibri" pitchFamily="34" charset="-122"/>
                <a:cs typeface="Calibri" pitchFamily="34" charset="-120"/>
              </a:rPr>
              <a:t>THE KILLER FEATURE</a:t>
            </a:r>
            <a:endParaRPr lang="en-US" sz="1100" dirty="0"/>
          </a:p>
        </p:txBody>
      </p:sp>
      <p:sp>
        <p:nvSpPr>
          <p:cNvPr id="15" name="Text 13"/>
          <p:cNvSpPr/>
          <p:nvPr/>
        </p:nvSpPr>
        <p:spPr>
          <a:xfrm>
            <a:off x="5989320" y="2148840"/>
            <a:ext cx="5486400" cy="457200"/>
          </a:xfrm>
          <a:prstGeom prst="rect">
            <a:avLst/>
          </a:prstGeom>
          <a:noFill/>
          <a:ln/>
        </p:spPr>
        <p:txBody>
          <a:bodyPr wrap="square" lIns="0" tIns="0" rIns="0" bIns="0" rtlCol="0" anchor="ctr"/>
          <a:lstStyle/>
          <a:p>
            <a:pPr indent="0" marL="0">
              <a:buNone/>
            </a:pPr>
            <a:r>
              <a:rPr lang="en-US" sz="2200" b="1" i="1" dirty="0">
                <a:solidFill>
                  <a:srgbClr val="FFFFFF"/>
                </a:solidFill>
                <a:latin typeface="Calibri" pitchFamily="34" charset="0"/>
                <a:ea typeface="Calibri" pitchFamily="34" charset="-122"/>
                <a:cs typeface="Calibri" pitchFamily="34" charset="-120"/>
              </a:rPr>
              <a:t>topics_per_class</a:t>
            </a:r>
            <a:endParaRPr lang="en-US" sz="2200" dirty="0"/>
          </a:p>
        </p:txBody>
      </p:sp>
      <p:sp>
        <p:nvSpPr>
          <p:cNvPr id="16" name="Text 14"/>
          <p:cNvSpPr/>
          <p:nvPr/>
        </p:nvSpPr>
        <p:spPr>
          <a:xfrm>
            <a:off x="5989320" y="2606040"/>
            <a:ext cx="5486400" cy="320040"/>
          </a:xfrm>
          <a:prstGeom prst="rect">
            <a:avLst/>
          </a:prstGeom>
          <a:noFill/>
          <a:ln/>
        </p:spPr>
        <p:txBody>
          <a:bodyPr wrap="square" lIns="0" tIns="0" rIns="0" bIns="0" rtlCol="0" anchor="ctr"/>
          <a:lstStyle/>
          <a:p>
            <a:pPr indent="0" marL="0">
              <a:buNone/>
            </a:pPr>
            <a:r>
              <a:rPr lang="en-US" sz="1400" i="1" dirty="0">
                <a:solidFill>
                  <a:srgbClr val="CBD5E1"/>
                </a:solidFill>
                <a:latin typeface="Calibri" pitchFamily="34" charset="0"/>
                <a:ea typeface="Calibri" pitchFamily="34" charset="-122"/>
                <a:cs typeface="Calibri" pitchFamily="34" charset="-120"/>
              </a:rPr>
              <a:t>keyed on star rating</a:t>
            </a:r>
            <a:endParaRPr lang="en-US" sz="1400" dirty="0"/>
          </a:p>
        </p:txBody>
      </p:sp>
      <p:sp>
        <p:nvSpPr>
          <p:cNvPr id="17" name="Shape 15"/>
          <p:cNvSpPr/>
          <p:nvPr/>
        </p:nvSpPr>
        <p:spPr>
          <a:xfrm>
            <a:off x="5989320" y="3154680"/>
            <a:ext cx="5486400" cy="0"/>
          </a:xfrm>
          <a:prstGeom prst="line">
            <a:avLst/>
          </a:prstGeom>
          <a:noFill/>
          <a:ln w="12700">
            <a:solidFill>
              <a:srgbClr val="374151"/>
            </a:solidFill>
            <a:prstDash val="solid"/>
          </a:ln>
        </p:spPr>
      </p:sp>
      <p:sp>
        <p:nvSpPr>
          <p:cNvPr id="18" name="Text 16"/>
          <p:cNvSpPr/>
          <p:nvPr/>
        </p:nvSpPr>
        <p:spPr>
          <a:xfrm>
            <a:off x="5989320" y="3291840"/>
            <a:ext cx="5486400" cy="2743200"/>
          </a:xfrm>
          <a:prstGeom prst="rect">
            <a:avLst/>
          </a:prstGeom>
          <a:noFill/>
          <a:ln/>
        </p:spPr>
        <p:txBody>
          <a:bodyPr wrap="square" lIns="0" tIns="0" rIns="0" bIns="0" rtlCol="0" anchor="t"/>
          <a:lstStyle/>
          <a:p>
            <a:pPr indent="0" marL="0">
              <a:buNone/>
            </a:pPr>
            <a:r>
              <a:rPr lang="en-US" sz="1300" b="1" dirty="0">
                <a:solidFill>
                  <a:srgbClr val="FCA5A5"/>
                </a:solidFill>
                <a:latin typeface="Calibri" pitchFamily="34" charset="0"/>
                <a:ea typeface="Calibri" pitchFamily="34" charset="-122"/>
                <a:cs typeface="Calibri" pitchFamily="34" charset="-120"/>
              </a:rPr>
              <a:t>Themes over-represented in 1-2★ reviews:</a:t>
            </a:r>
            <a:endParaRPr lang="en-US" sz="13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i="1" dirty="0">
                <a:solidFill>
                  <a:srgbClr val="FFFFFF"/>
                </a:solidFill>
                <a:latin typeface="Calibri" pitchFamily="34" charset="0"/>
                <a:ea typeface="Calibri" pitchFamily="34" charset="-122"/>
                <a:cs typeface="Calibri" pitchFamily="34" charset="-120"/>
              </a:rPr>
              <a:t>contracts, billing, cancellation, front desk</a:t>
            </a:r>
            <a:endParaRPr lang="en-US" sz="13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4B8A6"/>
                </a:solidFill>
                <a:latin typeface="Calibri" pitchFamily="34" charset="0"/>
                <a:ea typeface="Calibri" pitchFamily="34" charset="-122"/>
                <a:cs typeface="Calibri" pitchFamily="34" charset="-120"/>
              </a:rPr>
              <a:t>Themes over-represented in 4-5★ reviews:</a:t>
            </a:r>
            <a:endParaRPr lang="en-US" sz="13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i="1" dirty="0">
                <a:solidFill>
                  <a:srgbClr val="FFFFFF"/>
                </a:solidFill>
                <a:latin typeface="Calibri" pitchFamily="34" charset="0"/>
                <a:ea typeface="Calibri" pitchFamily="34" charset="-122"/>
                <a:cs typeface="Calibri" pitchFamily="34" charset="-120"/>
              </a:rPr>
              <a:t>instructor quality, kids programs, training environment</a:t>
            </a:r>
            <a:endParaRPr lang="en-US" sz="13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i="1" dirty="0">
                <a:solidFill>
                  <a:srgbClr val="A7F3D0"/>
                </a:solidFill>
                <a:latin typeface="Calibri" pitchFamily="34" charset="0"/>
                <a:ea typeface="Calibri" pitchFamily="34" charset="-122"/>
                <a:cs typeface="Calibri" pitchFamily="34" charset="-120"/>
              </a:rPr>
              <a:t>= the to-fix list and the marketing copy, separated.</a:t>
            </a:r>
            <a:endParaRPr lang="en-US" sz="1300" dirty="0"/>
          </a:p>
        </p:txBody>
      </p:sp>
      <p:sp>
        <p:nvSpPr>
          <p:cNvPr id="19" name="Text 17"/>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20" name="Text 18"/>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08  •  METHOD 5: CLASSIFICATION</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TF-IDF + Linear SVM: 96.3% accuracy, with GRU benchmarked alongside</a:t>
            </a:r>
            <a:endParaRPr lang="en-US" sz="3000" dirty="0"/>
          </a:p>
        </p:txBody>
      </p:sp>
      <p:sp>
        <p:nvSpPr>
          <p:cNvPr id="4" name="Shape 2"/>
          <p:cNvSpPr/>
          <p:nvPr/>
        </p:nvSpPr>
        <p:spPr>
          <a:xfrm>
            <a:off x="457200" y="1554480"/>
            <a:ext cx="5486400" cy="3931920"/>
          </a:xfrm>
          <a:prstGeom prst="rect">
            <a:avLst/>
          </a:prstGeom>
          <a:solidFill>
            <a:srgbClr val="0F766E"/>
          </a:solidFill>
          <a:ln/>
        </p:spPr>
      </p:sp>
      <p:sp>
        <p:nvSpPr>
          <p:cNvPr id="5" name="Text 3"/>
          <p:cNvSpPr/>
          <p:nvPr/>
        </p:nvSpPr>
        <p:spPr>
          <a:xfrm>
            <a:off x="640080" y="1783080"/>
            <a:ext cx="5120640" cy="320040"/>
          </a:xfrm>
          <a:prstGeom prst="rect">
            <a:avLst/>
          </a:prstGeom>
          <a:noFill/>
          <a:ln/>
        </p:spPr>
        <p:txBody>
          <a:bodyPr wrap="square" lIns="0" tIns="0" rIns="0" bIns="0" rtlCol="0" anchor="ctr"/>
          <a:lstStyle/>
          <a:p>
            <a:pPr indent="0" marL="0">
              <a:buNone/>
            </a:pPr>
            <a:r>
              <a:rPr lang="en-US" sz="1200" b="1" spc="400" kern="0" dirty="0">
                <a:solidFill>
                  <a:srgbClr val="CCFBF1"/>
                </a:solidFill>
                <a:latin typeface="Calibri" pitchFamily="34" charset="0"/>
                <a:ea typeface="Calibri" pitchFamily="34" charset="-122"/>
                <a:cs typeface="Calibri" pitchFamily="34" charset="-120"/>
              </a:rPr>
              <a:t>OVERALL ACCURACY</a:t>
            </a:r>
            <a:endParaRPr lang="en-US" sz="1200" dirty="0"/>
          </a:p>
        </p:txBody>
      </p:sp>
      <p:sp>
        <p:nvSpPr>
          <p:cNvPr id="6" name="Text 4"/>
          <p:cNvSpPr/>
          <p:nvPr/>
        </p:nvSpPr>
        <p:spPr>
          <a:xfrm>
            <a:off x="640080" y="2103120"/>
            <a:ext cx="5120640" cy="1554480"/>
          </a:xfrm>
          <a:prstGeom prst="rect">
            <a:avLst/>
          </a:prstGeom>
          <a:noFill/>
          <a:ln/>
        </p:spPr>
        <p:txBody>
          <a:bodyPr wrap="square" lIns="0" tIns="0" rIns="0" bIns="0" rtlCol="0" anchor="ctr"/>
          <a:lstStyle/>
          <a:p>
            <a:pPr indent="0" marL="0">
              <a:buNone/>
            </a:pPr>
            <a:r>
              <a:rPr lang="en-US" sz="9600" b="1" dirty="0">
                <a:solidFill>
                  <a:srgbClr val="FFFFFF"/>
                </a:solidFill>
                <a:latin typeface="Calibri" pitchFamily="34" charset="0"/>
                <a:ea typeface="Calibri" pitchFamily="34" charset="-122"/>
                <a:cs typeface="Calibri" pitchFamily="34" charset="-120"/>
              </a:rPr>
              <a:t>96.3%</a:t>
            </a:r>
            <a:endParaRPr lang="en-US" sz="9600" dirty="0"/>
          </a:p>
        </p:txBody>
      </p:sp>
      <p:sp>
        <p:nvSpPr>
          <p:cNvPr id="7" name="Text 5"/>
          <p:cNvSpPr/>
          <p:nvPr/>
        </p:nvSpPr>
        <p:spPr>
          <a:xfrm>
            <a:off x="640080" y="3703320"/>
            <a:ext cx="5120640" cy="320040"/>
          </a:xfrm>
          <a:prstGeom prst="rect">
            <a:avLst/>
          </a:prstGeom>
          <a:noFill/>
          <a:ln/>
        </p:spPr>
        <p:txBody>
          <a:bodyPr wrap="square" lIns="0" tIns="0" rIns="0" bIns="0" rtlCol="0" anchor="ctr"/>
          <a:lstStyle/>
          <a:p>
            <a:pPr indent="0" marL="0">
              <a:buNone/>
            </a:pPr>
            <a:r>
              <a:rPr lang="en-US" sz="1400" i="1" dirty="0">
                <a:solidFill>
                  <a:srgbClr val="A7F3D0"/>
                </a:solidFill>
                <a:latin typeface="Calibri" pitchFamily="34" charset="0"/>
                <a:ea typeface="Calibri" pitchFamily="34" charset="-122"/>
                <a:cs typeface="Calibri" pitchFamily="34" charset="-120"/>
              </a:rPr>
              <a:t>on 643 held-out reviews (20% test split)</a:t>
            </a:r>
            <a:endParaRPr lang="en-US" sz="1400" dirty="0"/>
          </a:p>
        </p:txBody>
      </p:sp>
      <p:sp>
        <p:nvSpPr>
          <p:cNvPr id="8" name="Shape 6"/>
          <p:cNvSpPr/>
          <p:nvPr/>
        </p:nvSpPr>
        <p:spPr>
          <a:xfrm>
            <a:off x="640080" y="4160520"/>
            <a:ext cx="5120640" cy="0"/>
          </a:xfrm>
          <a:prstGeom prst="line">
            <a:avLst/>
          </a:prstGeom>
          <a:noFill/>
          <a:ln w="12700">
            <a:solidFill>
              <a:srgbClr val="0EA5A1"/>
            </a:solidFill>
            <a:prstDash val="solid"/>
          </a:ln>
        </p:spPr>
      </p:sp>
      <p:sp>
        <p:nvSpPr>
          <p:cNvPr id="9" name="Text 7"/>
          <p:cNvSpPr/>
          <p:nvPr/>
        </p:nvSpPr>
        <p:spPr>
          <a:xfrm>
            <a:off x="640080" y="4297680"/>
            <a:ext cx="5120640" cy="1143000"/>
          </a:xfrm>
          <a:prstGeom prst="rect">
            <a:avLst/>
          </a:prstGeom>
          <a:noFill/>
          <a:ln/>
        </p:spPr>
        <p:txBody>
          <a:bodyPr wrap="square" lIns="0" tIns="0" rIns="0" bIns="0" rtlCol="0" anchor="t"/>
          <a:lstStyle/>
          <a:p>
            <a:pPr indent="0" marL="0">
              <a:buNone/>
            </a:pPr>
            <a:r>
              <a:rPr lang="en-US" sz="1300" b="1" dirty="0">
                <a:solidFill>
                  <a:srgbClr val="CCFBF1"/>
                </a:solidFill>
                <a:latin typeface="Calibri" pitchFamily="34" charset="0"/>
                <a:ea typeface="Calibri" pitchFamily="34" charset="-122"/>
                <a:cs typeface="Calibri" pitchFamily="34" charset="-120"/>
              </a:rPr>
              <a:t>Negative class F1:  </a:t>
            </a:r>
            <a:pPr indent="0" marL="0">
              <a:buNone/>
            </a:pPr>
            <a:r>
              <a:rPr lang="en-US" sz="1400" b="1" dirty="0">
                <a:solidFill>
                  <a:srgbClr val="FFFFFF"/>
                </a:solidFill>
                <a:latin typeface="Calibri" pitchFamily="34" charset="0"/>
                <a:ea typeface="Calibri" pitchFamily="34" charset="-122"/>
                <a:cs typeface="Calibri" pitchFamily="34" charset="-120"/>
              </a:rPr>
              <a:t>0.89</a:t>
            </a:r>
            <a:endParaRPr lang="en-US" sz="13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CCFBF1"/>
                </a:solidFill>
                <a:latin typeface="Calibri" pitchFamily="34" charset="0"/>
                <a:ea typeface="Calibri" pitchFamily="34" charset="-122"/>
                <a:cs typeface="Calibri" pitchFamily="34" charset="-120"/>
              </a:rPr>
              <a:t>Recall (negative):  </a:t>
            </a:r>
            <a:pPr indent="0" marL="0">
              <a:buNone/>
            </a:pPr>
            <a:r>
              <a:rPr lang="en-US" sz="1400" b="1" dirty="0">
                <a:solidFill>
                  <a:srgbClr val="FFFFFF"/>
                </a:solidFill>
                <a:latin typeface="Calibri" pitchFamily="34" charset="0"/>
                <a:ea typeface="Calibri" pitchFamily="34" charset="-122"/>
                <a:cs typeface="Calibri" pitchFamily="34" charset="-120"/>
              </a:rPr>
              <a:t>0.82</a:t>
            </a:r>
            <a:endParaRPr lang="en-US" sz="130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200" i="1" dirty="0">
                <a:solidFill>
                  <a:srgbClr val="CCFBF1"/>
                </a:solidFill>
                <a:latin typeface="Calibri" pitchFamily="34" charset="0"/>
                <a:ea typeface="Calibri" pitchFamily="34" charset="-122"/>
                <a:cs typeface="Calibri" pitchFamily="34" charset="-120"/>
              </a:rPr>
              <a:t>Big lift over VADER (recall 0.55 → 0.82)</a:t>
            </a:r>
            <a:endParaRPr lang="en-US" sz="1300" dirty="0"/>
          </a:p>
        </p:txBody>
      </p:sp>
      <p:sp>
        <p:nvSpPr>
          <p:cNvPr id="10" name="Shape 8"/>
          <p:cNvSpPr/>
          <p:nvPr/>
        </p:nvSpPr>
        <p:spPr>
          <a:xfrm>
            <a:off x="457200" y="5623560"/>
            <a:ext cx="5486400" cy="640080"/>
          </a:xfrm>
          <a:prstGeom prst="rect">
            <a:avLst/>
          </a:prstGeom>
          <a:solidFill>
            <a:srgbClr val="F8FAFC"/>
          </a:solidFill>
          <a:ln w="12700">
            <a:solidFill>
              <a:srgbClr val="E2E8F0"/>
            </a:solidFill>
            <a:prstDash val="solid"/>
          </a:ln>
        </p:spPr>
      </p:sp>
      <p:sp>
        <p:nvSpPr>
          <p:cNvPr id="11" name="Text 9"/>
          <p:cNvSpPr/>
          <p:nvPr/>
        </p:nvSpPr>
        <p:spPr>
          <a:xfrm>
            <a:off x="640080" y="5623560"/>
            <a:ext cx="5120640" cy="64008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DEEP LEARNING BENCHMARK  </a:t>
            </a:r>
            <a:pPr indent="0" marL="0">
              <a:buNone/>
            </a:pPr>
            <a:r>
              <a:rPr lang="en-US" sz="1200" dirty="0">
                <a:solidFill>
                  <a:srgbClr val="1F2937"/>
                </a:solidFill>
                <a:latin typeface="Calibri" pitchFamily="34" charset="0"/>
                <a:ea typeface="Calibri" pitchFamily="34" charset="-122"/>
                <a:cs typeface="Calibri" pitchFamily="34" charset="-120"/>
              </a:rPr>
              <a:t>GRU + frozen GloVe:  </a:t>
            </a:r>
            <a:pPr indent="0" marL="0">
              <a:buNone/>
            </a:pPr>
            <a:r>
              <a:rPr lang="en-US" sz="1200" b="1" dirty="0">
                <a:solidFill>
                  <a:srgbClr val="1F2937"/>
                </a:solidFill>
                <a:latin typeface="Calibri" pitchFamily="34" charset="0"/>
                <a:ea typeface="Calibri" pitchFamily="34" charset="-122"/>
                <a:cs typeface="Calibri" pitchFamily="34" charset="-120"/>
              </a:rPr>
              <a:t>94.7% acc, F1 neg 0.85</a:t>
            </a:r>
            <a:pPr indent="0" marL="0">
              <a:buNone/>
            </a:pPr>
            <a:r>
              <a:rPr lang="en-US" sz="1200" i="1" dirty="0">
                <a:solidFill>
                  <a:srgbClr val="64748B"/>
                </a:solidFill>
                <a:latin typeface="Calibri" pitchFamily="34" charset="0"/>
                <a:ea typeface="Calibri" pitchFamily="34" charset="-122"/>
                <a:cs typeface="Calibri" pitchFamily="34" charset="-120"/>
              </a:rPr>
              <a:t>  →  classical SVM still wins</a:t>
            </a:r>
            <a:endParaRPr lang="en-US" sz="1000" dirty="0"/>
          </a:p>
        </p:txBody>
      </p:sp>
      <p:sp>
        <p:nvSpPr>
          <p:cNvPr id="12" name="Text 10"/>
          <p:cNvSpPr/>
          <p:nvPr/>
        </p:nvSpPr>
        <p:spPr>
          <a:xfrm>
            <a:off x="6263640" y="1691640"/>
            <a:ext cx="5486400" cy="32004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CONFUSION MATRIX (TEST SET, n = 643)</a:t>
            </a:r>
            <a:endParaRPr lang="en-US" sz="1100" dirty="0"/>
          </a:p>
        </p:txBody>
      </p:sp>
      <p:sp>
        <p:nvSpPr>
          <p:cNvPr id="13" name="Text 11"/>
          <p:cNvSpPr/>
          <p:nvPr/>
        </p:nvSpPr>
        <p:spPr>
          <a:xfrm>
            <a:off x="6949440" y="2148840"/>
            <a:ext cx="1691640" cy="59436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Predicted</a:t>
            </a:r>
            <a:endParaRPr lang="en-US" sz="1100" dirty="0"/>
          </a:p>
          <a:p>
            <a:pPr algn="ctr" indent="0" marL="0">
              <a:buNone/>
            </a:pPr>
            <a:r>
              <a:rPr lang="en-US" sz="1100" b="1" dirty="0">
                <a:solidFill>
                  <a:srgbClr val="1F2937"/>
                </a:solidFill>
                <a:latin typeface="Calibri" pitchFamily="34" charset="0"/>
                <a:ea typeface="Calibri" pitchFamily="34" charset="-122"/>
                <a:cs typeface="Calibri" pitchFamily="34" charset="-120"/>
              </a:rPr>
              <a:t>Negative</a:t>
            </a:r>
            <a:endParaRPr lang="en-US" sz="1100" dirty="0"/>
          </a:p>
        </p:txBody>
      </p:sp>
      <p:sp>
        <p:nvSpPr>
          <p:cNvPr id="14" name="Text 12"/>
          <p:cNvSpPr/>
          <p:nvPr/>
        </p:nvSpPr>
        <p:spPr>
          <a:xfrm>
            <a:off x="8641080" y="2148840"/>
            <a:ext cx="1691640" cy="59436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Predicted</a:t>
            </a:r>
            <a:endParaRPr lang="en-US" sz="1100" dirty="0"/>
          </a:p>
          <a:p>
            <a:pPr algn="ctr" indent="0" marL="0">
              <a:buNone/>
            </a:pPr>
            <a:r>
              <a:rPr lang="en-US" sz="1100" b="1" dirty="0">
                <a:solidFill>
                  <a:srgbClr val="1F2937"/>
                </a:solidFill>
                <a:latin typeface="Calibri" pitchFamily="34" charset="0"/>
                <a:ea typeface="Calibri" pitchFamily="34" charset="-122"/>
                <a:cs typeface="Calibri" pitchFamily="34" charset="-120"/>
              </a:rPr>
              <a:t>Positive</a:t>
            </a:r>
            <a:endParaRPr lang="en-US" sz="1100" dirty="0"/>
          </a:p>
        </p:txBody>
      </p:sp>
      <p:sp>
        <p:nvSpPr>
          <p:cNvPr id="15" name="Text 13"/>
          <p:cNvSpPr/>
          <p:nvPr/>
        </p:nvSpPr>
        <p:spPr>
          <a:xfrm>
            <a:off x="6035040" y="2788920"/>
            <a:ext cx="914400" cy="1691640"/>
          </a:xfrm>
          <a:prstGeom prst="rect">
            <a:avLst/>
          </a:prstGeom>
          <a:noFill/>
          <a:ln/>
        </p:spPr>
        <p:txBody>
          <a:bodyPr wrap="square" lIns="0" tIns="0" rIns="0" bIns="0"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Actual</a:t>
            </a:r>
            <a:endParaRPr lang="en-US" sz="1100" dirty="0"/>
          </a:p>
          <a:p>
            <a:pPr algn="r" indent="0" marL="0">
              <a:buNone/>
            </a:pPr>
            <a:r>
              <a:rPr lang="en-US" sz="1100" b="1" dirty="0">
                <a:solidFill>
                  <a:srgbClr val="1F2937"/>
                </a:solidFill>
                <a:latin typeface="Calibri" pitchFamily="34" charset="0"/>
                <a:ea typeface="Calibri" pitchFamily="34" charset="-122"/>
                <a:cs typeface="Calibri" pitchFamily="34" charset="-120"/>
              </a:rPr>
              <a:t>Negative</a:t>
            </a:r>
            <a:endParaRPr lang="en-US" sz="1100" dirty="0"/>
          </a:p>
        </p:txBody>
      </p:sp>
      <p:sp>
        <p:nvSpPr>
          <p:cNvPr id="16" name="Text 14"/>
          <p:cNvSpPr/>
          <p:nvPr/>
        </p:nvSpPr>
        <p:spPr>
          <a:xfrm>
            <a:off x="6035040" y="4480560"/>
            <a:ext cx="914400" cy="1691640"/>
          </a:xfrm>
          <a:prstGeom prst="rect">
            <a:avLst/>
          </a:prstGeom>
          <a:noFill/>
          <a:ln/>
        </p:spPr>
        <p:txBody>
          <a:bodyPr wrap="square" lIns="0" tIns="0" rIns="0" bIns="0" rtlCol="0" anchor="ctr"/>
          <a:lstStyle/>
          <a:p>
            <a:pPr algn="r" indent="0" marL="0">
              <a:buNone/>
            </a:pPr>
            <a:r>
              <a:rPr lang="en-US" sz="1100" b="1" dirty="0">
                <a:solidFill>
                  <a:srgbClr val="1F2937"/>
                </a:solidFill>
                <a:latin typeface="Calibri" pitchFamily="34" charset="0"/>
                <a:ea typeface="Calibri" pitchFamily="34" charset="-122"/>
                <a:cs typeface="Calibri" pitchFamily="34" charset="-120"/>
              </a:rPr>
              <a:t>Actual</a:t>
            </a:r>
            <a:endParaRPr lang="en-US" sz="1100" dirty="0"/>
          </a:p>
          <a:p>
            <a:pPr algn="r" indent="0" marL="0">
              <a:buNone/>
            </a:pPr>
            <a:r>
              <a:rPr lang="en-US" sz="1100" b="1" dirty="0">
                <a:solidFill>
                  <a:srgbClr val="1F2937"/>
                </a:solidFill>
                <a:latin typeface="Calibri" pitchFamily="34" charset="0"/>
                <a:ea typeface="Calibri" pitchFamily="34" charset="-122"/>
                <a:cs typeface="Calibri" pitchFamily="34" charset="-120"/>
              </a:rPr>
              <a:t>Positive</a:t>
            </a:r>
            <a:endParaRPr lang="en-US" sz="1100" dirty="0"/>
          </a:p>
        </p:txBody>
      </p:sp>
      <p:sp>
        <p:nvSpPr>
          <p:cNvPr id="17" name="Shape 15"/>
          <p:cNvSpPr/>
          <p:nvPr/>
        </p:nvSpPr>
        <p:spPr>
          <a:xfrm>
            <a:off x="6949440" y="2788920"/>
            <a:ext cx="1691640" cy="1691640"/>
          </a:xfrm>
          <a:prstGeom prst="rect">
            <a:avLst/>
          </a:prstGeom>
          <a:solidFill>
            <a:srgbClr val="CCFBF1"/>
          </a:solidFill>
          <a:ln w="12700">
            <a:solidFill>
              <a:srgbClr val="0F766E"/>
            </a:solidFill>
            <a:prstDash val="solid"/>
          </a:ln>
        </p:spPr>
      </p:sp>
      <p:sp>
        <p:nvSpPr>
          <p:cNvPr id="18" name="Text 16"/>
          <p:cNvSpPr/>
          <p:nvPr/>
        </p:nvSpPr>
        <p:spPr>
          <a:xfrm>
            <a:off x="6949440" y="2971800"/>
            <a:ext cx="1691640" cy="914400"/>
          </a:xfrm>
          <a:prstGeom prst="rect">
            <a:avLst/>
          </a:prstGeom>
          <a:noFill/>
          <a:ln/>
        </p:spPr>
        <p:txBody>
          <a:bodyPr wrap="square" lIns="0" tIns="0" rIns="0" bIns="0" rtlCol="0" anchor="ctr"/>
          <a:lstStyle/>
          <a:p>
            <a:pPr algn="ctr" indent="0" marL="0">
              <a:buNone/>
            </a:pPr>
            <a:r>
              <a:rPr lang="en-US" sz="3800" b="1" dirty="0">
                <a:solidFill>
                  <a:srgbClr val="0F766E"/>
                </a:solidFill>
                <a:latin typeface="Calibri" pitchFamily="34" charset="0"/>
                <a:ea typeface="Calibri" pitchFamily="34" charset="-122"/>
                <a:cs typeface="Calibri" pitchFamily="34" charset="-120"/>
              </a:rPr>
              <a:t>96</a:t>
            </a:r>
            <a:endParaRPr lang="en-US" sz="3800" dirty="0"/>
          </a:p>
        </p:txBody>
      </p:sp>
      <p:sp>
        <p:nvSpPr>
          <p:cNvPr id="19" name="Text 17"/>
          <p:cNvSpPr/>
          <p:nvPr/>
        </p:nvSpPr>
        <p:spPr>
          <a:xfrm>
            <a:off x="6949440" y="3886200"/>
            <a:ext cx="1691640" cy="457200"/>
          </a:xfrm>
          <a:prstGeom prst="rect">
            <a:avLst/>
          </a:prstGeom>
          <a:noFill/>
          <a:ln/>
        </p:spPr>
        <p:txBody>
          <a:bodyPr wrap="square" lIns="0" tIns="0" rIns="0" bIns="0" rtlCol="0" anchor="ctr"/>
          <a:lstStyle/>
          <a:p>
            <a:pPr algn="ctr" indent="0" marL="0">
              <a:buNone/>
            </a:pPr>
            <a:r>
              <a:rPr lang="en-US" sz="1000" b="1" spc="200" kern="0" dirty="0">
                <a:solidFill>
                  <a:srgbClr val="64748B"/>
                </a:solidFill>
                <a:latin typeface="Calibri" pitchFamily="34" charset="0"/>
                <a:ea typeface="Calibri" pitchFamily="34" charset="-122"/>
                <a:cs typeface="Calibri" pitchFamily="34" charset="-120"/>
              </a:rPr>
              <a:t>True Neg</a:t>
            </a:r>
            <a:endParaRPr lang="en-US" sz="1000" dirty="0"/>
          </a:p>
        </p:txBody>
      </p:sp>
      <p:sp>
        <p:nvSpPr>
          <p:cNvPr id="20" name="Shape 18"/>
          <p:cNvSpPr/>
          <p:nvPr/>
        </p:nvSpPr>
        <p:spPr>
          <a:xfrm>
            <a:off x="8641080" y="2788920"/>
            <a:ext cx="1691640" cy="1691640"/>
          </a:xfrm>
          <a:prstGeom prst="rect">
            <a:avLst/>
          </a:prstGeom>
          <a:solidFill>
            <a:srgbClr val="FEE2E2"/>
          </a:solidFill>
          <a:ln w="12700">
            <a:solidFill>
              <a:srgbClr val="FCA5A5"/>
            </a:solidFill>
            <a:prstDash val="solid"/>
          </a:ln>
        </p:spPr>
      </p:sp>
      <p:sp>
        <p:nvSpPr>
          <p:cNvPr id="21" name="Text 19"/>
          <p:cNvSpPr/>
          <p:nvPr/>
        </p:nvSpPr>
        <p:spPr>
          <a:xfrm>
            <a:off x="8641080" y="2971800"/>
            <a:ext cx="1691640" cy="914400"/>
          </a:xfrm>
          <a:prstGeom prst="rect">
            <a:avLst/>
          </a:prstGeom>
          <a:noFill/>
          <a:ln/>
        </p:spPr>
        <p:txBody>
          <a:bodyPr wrap="square" lIns="0" tIns="0" rIns="0" bIns="0" rtlCol="0" anchor="ctr"/>
          <a:lstStyle/>
          <a:p>
            <a:pPr algn="ctr" indent="0" marL="0">
              <a:buNone/>
            </a:pPr>
            <a:r>
              <a:rPr lang="en-US" sz="3800" b="1" dirty="0">
                <a:solidFill>
                  <a:srgbClr val="DC2626"/>
                </a:solidFill>
                <a:latin typeface="Calibri" pitchFamily="34" charset="0"/>
                <a:ea typeface="Calibri" pitchFamily="34" charset="-122"/>
                <a:cs typeface="Calibri" pitchFamily="34" charset="-120"/>
              </a:rPr>
              <a:t>21</a:t>
            </a:r>
            <a:endParaRPr lang="en-US" sz="3800" dirty="0"/>
          </a:p>
        </p:txBody>
      </p:sp>
      <p:sp>
        <p:nvSpPr>
          <p:cNvPr id="22" name="Text 20"/>
          <p:cNvSpPr/>
          <p:nvPr/>
        </p:nvSpPr>
        <p:spPr>
          <a:xfrm>
            <a:off x="8641080" y="3886200"/>
            <a:ext cx="1691640" cy="457200"/>
          </a:xfrm>
          <a:prstGeom prst="rect">
            <a:avLst/>
          </a:prstGeom>
          <a:noFill/>
          <a:ln/>
        </p:spPr>
        <p:txBody>
          <a:bodyPr wrap="square" lIns="0" tIns="0" rIns="0" bIns="0" rtlCol="0" anchor="ctr"/>
          <a:lstStyle/>
          <a:p>
            <a:pPr algn="ctr" indent="0" marL="0">
              <a:buNone/>
            </a:pPr>
            <a:r>
              <a:rPr lang="en-US" sz="1000" b="1" spc="200" kern="0" dirty="0">
                <a:solidFill>
                  <a:srgbClr val="64748B"/>
                </a:solidFill>
                <a:latin typeface="Calibri" pitchFamily="34" charset="0"/>
                <a:ea typeface="Calibri" pitchFamily="34" charset="-122"/>
                <a:cs typeface="Calibri" pitchFamily="34" charset="-120"/>
              </a:rPr>
              <a:t>False Pos</a:t>
            </a:r>
            <a:endParaRPr lang="en-US" sz="1000" dirty="0"/>
          </a:p>
        </p:txBody>
      </p:sp>
      <p:sp>
        <p:nvSpPr>
          <p:cNvPr id="23" name="Shape 21"/>
          <p:cNvSpPr/>
          <p:nvPr/>
        </p:nvSpPr>
        <p:spPr>
          <a:xfrm>
            <a:off x="6949440" y="4480560"/>
            <a:ext cx="1691640" cy="1691640"/>
          </a:xfrm>
          <a:prstGeom prst="rect">
            <a:avLst/>
          </a:prstGeom>
          <a:solidFill>
            <a:srgbClr val="FEE2E2"/>
          </a:solidFill>
          <a:ln w="12700">
            <a:solidFill>
              <a:srgbClr val="FCA5A5"/>
            </a:solidFill>
            <a:prstDash val="solid"/>
          </a:ln>
        </p:spPr>
      </p:sp>
      <p:sp>
        <p:nvSpPr>
          <p:cNvPr id="24" name="Text 22"/>
          <p:cNvSpPr/>
          <p:nvPr/>
        </p:nvSpPr>
        <p:spPr>
          <a:xfrm>
            <a:off x="6949440" y="4663440"/>
            <a:ext cx="1691640" cy="914400"/>
          </a:xfrm>
          <a:prstGeom prst="rect">
            <a:avLst/>
          </a:prstGeom>
          <a:noFill/>
          <a:ln/>
        </p:spPr>
        <p:txBody>
          <a:bodyPr wrap="square" lIns="0" tIns="0" rIns="0" bIns="0" rtlCol="0" anchor="ctr"/>
          <a:lstStyle/>
          <a:p>
            <a:pPr algn="ctr" indent="0" marL="0">
              <a:buNone/>
            </a:pPr>
            <a:r>
              <a:rPr lang="en-US" sz="3800" b="1" dirty="0">
                <a:solidFill>
                  <a:srgbClr val="DC2626"/>
                </a:solidFill>
                <a:latin typeface="Calibri" pitchFamily="34" charset="0"/>
                <a:ea typeface="Calibri" pitchFamily="34" charset="-122"/>
                <a:cs typeface="Calibri" pitchFamily="34" charset="-120"/>
              </a:rPr>
              <a:t>3</a:t>
            </a:r>
            <a:endParaRPr lang="en-US" sz="3800" dirty="0"/>
          </a:p>
        </p:txBody>
      </p:sp>
      <p:sp>
        <p:nvSpPr>
          <p:cNvPr id="25" name="Text 23"/>
          <p:cNvSpPr/>
          <p:nvPr/>
        </p:nvSpPr>
        <p:spPr>
          <a:xfrm>
            <a:off x="6949440" y="5577840"/>
            <a:ext cx="1691640" cy="457200"/>
          </a:xfrm>
          <a:prstGeom prst="rect">
            <a:avLst/>
          </a:prstGeom>
          <a:noFill/>
          <a:ln/>
        </p:spPr>
        <p:txBody>
          <a:bodyPr wrap="square" lIns="0" tIns="0" rIns="0" bIns="0" rtlCol="0" anchor="ctr"/>
          <a:lstStyle/>
          <a:p>
            <a:pPr algn="ctr" indent="0" marL="0">
              <a:buNone/>
            </a:pPr>
            <a:r>
              <a:rPr lang="en-US" sz="1000" b="1" spc="200" kern="0" dirty="0">
                <a:solidFill>
                  <a:srgbClr val="64748B"/>
                </a:solidFill>
                <a:latin typeface="Calibri" pitchFamily="34" charset="0"/>
                <a:ea typeface="Calibri" pitchFamily="34" charset="-122"/>
                <a:cs typeface="Calibri" pitchFamily="34" charset="-120"/>
              </a:rPr>
              <a:t>False Neg</a:t>
            </a:r>
            <a:endParaRPr lang="en-US" sz="1000" dirty="0"/>
          </a:p>
        </p:txBody>
      </p:sp>
      <p:sp>
        <p:nvSpPr>
          <p:cNvPr id="26" name="Shape 24"/>
          <p:cNvSpPr/>
          <p:nvPr/>
        </p:nvSpPr>
        <p:spPr>
          <a:xfrm>
            <a:off x="8641080" y="4480560"/>
            <a:ext cx="1691640" cy="1691640"/>
          </a:xfrm>
          <a:prstGeom prst="rect">
            <a:avLst/>
          </a:prstGeom>
          <a:solidFill>
            <a:srgbClr val="CCFBF1"/>
          </a:solidFill>
          <a:ln w="12700">
            <a:solidFill>
              <a:srgbClr val="0F766E"/>
            </a:solidFill>
            <a:prstDash val="solid"/>
          </a:ln>
        </p:spPr>
      </p:sp>
      <p:sp>
        <p:nvSpPr>
          <p:cNvPr id="27" name="Text 25"/>
          <p:cNvSpPr/>
          <p:nvPr/>
        </p:nvSpPr>
        <p:spPr>
          <a:xfrm>
            <a:off x="8641080" y="4663440"/>
            <a:ext cx="1691640" cy="914400"/>
          </a:xfrm>
          <a:prstGeom prst="rect">
            <a:avLst/>
          </a:prstGeom>
          <a:noFill/>
          <a:ln/>
        </p:spPr>
        <p:txBody>
          <a:bodyPr wrap="square" lIns="0" tIns="0" rIns="0" bIns="0" rtlCol="0" anchor="ctr"/>
          <a:lstStyle/>
          <a:p>
            <a:pPr algn="ctr" indent="0" marL="0">
              <a:buNone/>
            </a:pPr>
            <a:r>
              <a:rPr lang="en-US" sz="3800" b="1" dirty="0">
                <a:solidFill>
                  <a:srgbClr val="0F766E"/>
                </a:solidFill>
                <a:latin typeface="Calibri" pitchFamily="34" charset="0"/>
                <a:ea typeface="Calibri" pitchFamily="34" charset="-122"/>
                <a:cs typeface="Calibri" pitchFamily="34" charset="-120"/>
              </a:rPr>
              <a:t>523</a:t>
            </a:r>
            <a:endParaRPr lang="en-US" sz="3800" dirty="0"/>
          </a:p>
        </p:txBody>
      </p:sp>
      <p:sp>
        <p:nvSpPr>
          <p:cNvPr id="28" name="Text 26"/>
          <p:cNvSpPr/>
          <p:nvPr/>
        </p:nvSpPr>
        <p:spPr>
          <a:xfrm>
            <a:off x="8641080" y="5577840"/>
            <a:ext cx="1691640" cy="457200"/>
          </a:xfrm>
          <a:prstGeom prst="rect">
            <a:avLst/>
          </a:prstGeom>
          <a:noFill/>
          <a:ln/>
        </p:spPr>
        <p:txBody>
          <a:bodyPr wrap="square" lIns="0" tIns="0" rIns="0" bIns="0" rtlCol="0" anchor="ctr"/>
          <a:lstStyle/>
          <a:p>
            <a:pPr algn="ctr" indent="0" marL="0">
              <a:buNone/>
            </a:pPr>
            <a:r>
              <a:rPr lang="en-US" sz="1000" b="1" spc="200" kern="0" dirty="0">
                <a:solidFill>
                  <a:srgbClr val="64748B"/>
                </a:solidFill>
                <a:latin typeface="Calibri" pitchFamily="34" charset="0"/>
                <a:ea typeface="Calibri" pitchFamily="34" charset="-122"/>
                <a:cs typeface="Calibri" pitchFamily="34" charset="-120"/>
              </a:rPr>
              <a:t>True Pos</a:t>
            </a:r>
            <a:endParaRPr lang="en-US" sz="1000" dirty="0"/>
          </a:p>
        </p:txBody>
      </p:sp>
      <p:sp>
        <p:nvSpPr>
          <p:cNvPr id="29" name="Text 27"/>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30" name="Text 28"/>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08  •  CLASSIFICATION SIGNALS</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What customers say when they love it — and when they don't</a:t>
            </a:r>
            <a:endParaRPr lang="en-US" sz="3000" dirty="0"/>
          </a:p>
        </p:txBody>
      </p:sp>
      <p:sp>
        <p:nvSpPr>
          <p:cNvPr id="4" name="Shape 2"/>
          <p:cNvSpPr/>
          <p:nvPr/>
        </p:nvSpPr>
        <p:spPr>
          <a:xfrm>
            <a:off x="457200" y="1554480"/>
            <a:ext cx="5577840" cy="4572000"/>
          </a:xfrm>
          <a:prstGeom prst="rect">
            <a:avLst/>
          </a:prstGeom>
          <a:solidFill>
            <a:srgbClr val="CCFBF1"/>
          </a:solidFill>
          <a:ln w="12700">
            <a:solidFill>
              <a:srgbClr val="0F766E"/>
            </a:solidFill>
            <a:prstDash val="solid"/>
          </a:ln>
        </p:spPr>
      </p:sp>
      <p:sp>
        <p:nvSpPr>
          <p:cNvPr id="5" name="Text 3"/>
          <p:cNvSpPr/>
          <p:nvPr/>
        </p:nvSpPr>
        <p:spPr>
          <a:xfrm>
            <a:off x="685800" y="1737360"/>
            <a:ext cx="5120640" cy="32004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POSITIVE-DRIVING TERMS</a:t>
            </a:r>
            <a:endParaRPr lang="en-US" sz="1100" dirty="0"/>
          </a:p>
        </p:txBody>
      </p:sp>
      <p:sp>
        <p:nvSpPr>
          <p:cNvPr id="6" name="Text 4"/>
          <p:cNvSpPr/>
          <p:nvPr/>
        </p:nvSpPr>
        <p:spPr>
          <a:xfrm>
            <a:off x="685800" y="2057400"/>
            <a:ext cx="5120640" cy="320040"/>
          </a:xfrm>
          <a:prstGeom prst="rect">
            <a:avLst/>
          </a:prstGeom>
          <a:noFill/>
          <a:ln/>
        </p:spPr>
        <p:txBody>
          <a:bodyPr wrap="square" lIns="0" tIns="0" rIns="0" bIns="0" rtlCol="0" anchor="ctr"/>
          <a:lstStyle/>
          <a:p>
            <a:pPr indent="0" marL="0">
              <a:buNone/>
            </a:pPr>
            <a:r>
              <a:rPr lang="en-US" sz="1300" i="1" dirty="0">
                <a:solidFill>
                  <a:srgbClr val="1F2937"/>
                </a:solidFill>
                <a:latin typeface="Calibri" pitchFamily="34" charset="0"/>
                <a:ea typeface="Calibri" pitchFamily="34" charset="-122"/>
                <a:cs typeface="Calibri" pitchFamily="34" charset="-120"/>
              </a:rPr>
              <a:t>Top SVM coefficients — positive class</a:t>
            </a:r>
            <a:endParaRPr lang="en-US" sz="1300" dirty="0"/>
          </a:p>
        </p:txBody>
      </p:sp>
      <p:sp>
        <p:nvSpPr>
          <p:cNvPr id="7" name="Shape 5"/>
          <p:cNvSpPr/>
          <p:nvPr/>
        </p:nvSpPr>
        <p:spPr>
          <a:xfrm>
            <a:off x="777240" y="2606040"/>
            <a:ext cx="2331720" cy="502920"/>
          </a:xfrm>
          <a:prstGeom prst="rect">
            <a:avLst/>
          </a:prstGeom>
          <a:solidFill>
            <a:srgbClr val="FFFFFF"/>
          </a:solidFill>
          <a:ln w="12700">
            <a:solidFill>
              <a:srgbClr val="0F766E"/>
            </a:solidFill>
            <a:prstDash val="solid"/>
          </a:ln>
        </p:spPr>
      </p:sp>
      <p:sp>
        <p:nvSpPr>
          <p:cNvPr id="8" name="Text 6"/>
          <p:cNvSpPr/>
          <p:nvPr/>
        </p:nvSpPr>
        <p:spPr>
          <a:xfrm>
            <a:off x="777240" y="2606040"/>
            <a:ext cx="23317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great</a:t>
            </a:r>
            <a:endParaRPr lang="en-US" sz="1600" dirty="0"/>
          </a:p>
        </p:txBody>
      </p:sp>
      <p:sp>
        <p:nvSpPr>
          <p:cNvPr id="9" name="Shape 7"/>
          <p:cNvSpPr/>
          <p:nvPr/>
        </p:nvSpPr>
        <p:spPr>
          <a:xfrm>
            <a:off x="3383280" y="2606040"/>
            <a:ext cx="2331720" cy="502920"/>
          </a:xfrm>
          <a:prstGeom prst="rect">
            <a:avLst/>
          </a:prstGeom>
          <a:solidFill>
            <a:srgbClr val="FFFFFF"/>
          </a:solidFill>
          <a:ln w="12700">
            <a:solidFill>
              <a:srgbClr val="0F766E"/>
            </a:solidFill>
            <a:prstDash val="solid"/>
          </a:ln>
        </p:spPr>
      </p:sp>
      <p:sp>
        <p:nvSpPr>
          <p:cNvPr id="10" name="Text 8"/>
          <p:cNvSpPr/>
          <p:nvPr/>
        </p:nvSpPr>
        <p:spPr>
          <a:xfrm>
            <a:off x="3383280" y="2606040"/>
            <a:ext cx="23317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love</a:t>
            </a:r>
            <a:endParaRPr lang="en-US" sz="1600" dirty="0"/>
          </a:p>
        </p:txBody>
      </p:sp>
      <p:sp>
        <p:nvSpPr>
          <p:cNvPr id="11" name="Shape 9"/>
          <p:cNvSpPr/>
          <p:nvPr/>
        </p:nvSpPr>
        <p:spPr>
          <a:xfrm>
            <a:off x="777240" y="3246120"/>
            <a:ext cx="2331720" cy="502920"/>
          </a:xfrm>
          <a:prstGeom prst="rect">
            <a:avLst/>
          </a:prstGeom>
          <a:solidFill>
            <a:srgbClr val="FFFFFF"/>
          </a:solidFill>
          <a:ln w="12700">
            <a:solidFill>
              <a:srgbClr val="0F766E"/>
            </a:solidFill>
            <a:prstDash val="solid"/>
          </a:ln>
        </p:spPr>
      </p:sp>
      <p:sp>
        <p:nvSpPr>
          <p:cNvPr id="12" name="Text 10"/>
          <p:cNvSpPr/>
          <p:nvPr/>
        </p:nvSpPr>
        <p:spPr>
          <a:xfrm>
            <a:off x="777240" y="3246120"/>
            <a:ext cx="23317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awesome</a:t>
            </a:r>
            <a:endParaRPr lang="en-US" sz="1600" dirty="0"/>
          </a:p>
        </p:txBody>
      </p:sp>
      <p:sp>
        <p:nvSpPr>
          <p:cNvPr id="13" name="Shape 11"/>
          <p:cNvSpPr/>
          <p:nvPr/>
        </p:nvSpPr>
        <p:spPr>
          <a:xfrm>
            <a:off x="3383280" y="3246120"/>
            <a:ext cx="2331720" cy="502920"/>
          </a:xfrm>
          <a:prstGeom prst="rect">
            <a:avLst/>
          </a:prstGeom>
          <a:solidFill>
            <a:srgbClr val="FFFFFF"/>
          </a:solidFill>
          <a:ln w="12700">
            <a:solidFill>
              <a:srgbClr val="0F766E"/>
            </a:solidFill>
            <a:prstDash val="solid"/>
          </a:ln>
        </p:spPr>
      </p:sp>
      <p:sp>
        <p:nvSpPr>
          <p:cNvPr id="14" name="Text 12"/>
          <p:cNvSpPr/>
          <p:nvPr/>
        </p:nvSpPr>
        <p:spPr>
          <a:xfrm>
            <a:off x="3383280" y="3246120"/>
            <a:ext cx="23317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best</a:t>
            </a:r>
            <a:endParaRPr lang="en-US" sz="1600" dirty="0"/>
          </a:p>
        </p:txBody>
      </p:sp>
      <p:sp>
        <p:nvSpPr>
          <p:cNvPr id="15" name="Shape 13"/>
          <p:cNvSpPr/>
          <p:nvPr/>
        </p:nvSpPr>
        <p:spPr>
          <a:xfrm>
            <a:off x="777240" y="3886200"/>
            <a:ext cx="2331720" cy="502920"/>
          </a:xfrm>
          <a:prstGeom prst="rect">
            <a:avLst/>
          </a:prstGeom>
          <a:solidFill>
            <a:srgbClr val="FFFFFF"/>
          </a:solidFill>
          <a:ln w="12700">
            <a:solidFill>
              <a:srgbClr val="0F766E"/>
            </a:solidFill>
            <a:prstDash val="solid"/>
          </a:ln>
        </p:spPr>
      </p:sp>
      <p:sp>
        <p:nvSpPr>
          <p:cNvPr id="16" name="Text 14"/>
          <p:cNvSpPr/>
          <p:nvPr/>
        </p:nvSpPr>
        <p:spPr>
          <a:xfrm>
            <a:off x="777240" y="3886200"/>
            <a:ext cx="23317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helpful</a:t>
            </a:r>
            <a:endParaRPr lang="en-US" sz="1600" dirty="0"/>
          </a:p>
        </p:txBody>
      </p:sp>
      <p:sp>
        <p:nvSpPr>
          <p:cNvPr id="17" name="Shape 15"/>
          <p:cNvSpPr/>
          <p:nvPr/>
        </p:nvSpPr>
        <p:spPr>
          <a:xfrm>
            <a:off x="3383280" y="3886200"/>
            <a:ext cx="2331720" cy="502920"/>
          </a:xfrm>
          <a:prstGeom prst="rect">
            <a:avLst/>
          </a:prstGeom>
          <a:solidFill>
            <a:srgbClr val="FFFFFF"/>
          </a:solidFill>
          <a:ln w="12700">
            <a:solidFill>
              <a:srgbClr val="0F766E"/>
            </a:solidFill>
            <a:prstDash val="solid"/>
          </a:ln>
        </p:spPr>
      </p:sp>
      <p:sp>
        <p:nvSpPr>
          <p:cNvPr id="18" name="Text 16"/>
          <p:cNvSpPr/>
          <p:nvPr/>
        </p:nvSpPr>
        <p:spPr>
          <a:xfrm>
            <a:off x="3383280" y="3886200"/>
            <a:ext cx="23317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amazing</a:t>
            </a:r>
            <a:endParaRPr lang="en-US" sz="1600" dirty="0"/>
          </a:p>
        </p:txBody>
      </p:sp>
      <p:sp>
        <p:nvSpPr>
          <p:cNvPr id="19" name="Shape 17"/>
          <p:cNvSpPr/>
          <p:nvPr/>
        </p:nvSpPr>
        <p:spPr>
          <a:xfrm>
            <a:off x="777240" y="4526280"/>
            <a:ext cx="2331720" cy="502920"/>
          </a:xfrm>
          <a:prstGeom prst="rect">
            <a:avLst/>
          </a:prstGeom>
          <a:solidFill>
            <a:srgbClr val="FFFFFF"/>
          </a:solidFill>
          <a:ln w="12700">
            <a:solidFill>
              <a:srgbClr val="0F766E"/>
            </a:solidFill>
            <a:prstDash val="solid"/>
          </a:ln>
        </p:spPr>
      </p:sp>
      <p:sp>
        <p:nvSpPr>
          <p:cNvPr id="20" name="Text 18"/>
          <p:cNvSpPr/>
          <p:nvPr/>
        </p:nvSpPr>
        <p:spPr>
          <a:xfrm>
            <a:off x="777240" y="4526280"/>
            <a:ext cx="23317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helped</a:t>
            </a:r>
            <a:endParaRPr lang="en-US" sz="1600" dirty="0"/>
          </a:p>
        </p:txBody>
      </p:sp>
      <p:sp>
        <p:nvSpPr>
          <p:cNvPr id="21" name="Shape 19"/>
          <p:cNvSpPr/>
          <p:nvPr/>
        </p:nvSpPr>
        <p:spPr>
          <a:xfrm>
            <a:off x="3383280" y="4526280"/>
            <a:ext cx="2331720" cy="502920"/>
          </a:xfrm>
          <a:prstGeom prst="rect">
            <a:avLst/>
          </a:prstGeom>
          <a:solidFill>
            <a:srgbClr val="FFFFFF"/>
          </a:solidFill>
          <a:ln w="12700">
            <a:solidFill>
              <a:srgbClr val="0F766E"/>
            </a:solidFill>
            <a:prstDash val="solid"/>
          </a:ln>
        </p:spPr>
      </p:sp>
      <p:sp>
        <p:nvSpPr>
          <p:cNvPr id="22" name="Text 20"/>
          <p:cNvSpPr/>
          <p:nvPr/>
        </p:nvSpPr>
        <p:spPr>
          <a:xfrm>
            <a:off x="3383280" y="4526280"/>
            <a:ext cx="23317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fun</a:t>
            </a:r>
            <a:endParaRPr lang="en-US" sz="1600" dirty="0"/>
          </a:p>
        </p:txBody>
      </p:sp>
      <p:sp>
        <p:nvSpPr>
          <p:cNvPr id="23" name="Shape 21"/>
          <p:cNvSpPr/>
          <p:nvPr/>
        </p:nvSpPr>
        <p:spPr>
          <a:xfrm>
            <a:off x="777240" y="5166360"/>
            <a:ext cx="2331720" cy="502920"/>
          </a:xfrm>
          <a:prstGeom prst="rect">
            <a:avLst/>
          </a:prstGeom>
          <a:solidFill>
            <a:srgbClr val="FFFFFF"/>
          </a:solidFill>
          <a:ln w="12700">
            <a:solidFill>
              <a:srgbClr val="0F766E"/>
            </a:solidFill>
            <a:prstDash val="solid"/>
          </a:ln>
        </p:spPr>
      </p:sp>
      <p:sp>
        <p:nvSpPr>
          <p:cNvPr id="24" name="Text 22"/>
          <p:cNvSpPr/>
          <p:nvPr/>
        </p:nvSpPr>
        <p:spPr>
          <a:xfrm>
            <a:off x="777240" y="5166360"/>
            <a:ext cx="23317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loved</a:t>
            </a:r>
            <a:endParaRPr lang="en-US" sz="1600" dirty="0"/>
          </a:p>
        </p:txBody>
      </p:sp>
      <p:sp>
        <p:nvSpPr>
          <p:cNvPr id="25" name="Shape 23"/>
          <p:cNvSpPr/>
          <p:nvPr/>
        </p:nvSpPr>
        <p:spPr>
          <a:xfrm>
            <a:off x="3383280" y="5166360"/>
            <a:ext cx="2331720" cy="502920"/>
          </a:xfrm>
          <a:prstGeom prst="rect">
            <a:avLst/>
          </a:prstGeom>
          <a:solidFill>
            <a:srgbClr val="FFFFFF"/>
          </a:solidFill>
          <a:ln w="12700">
            <a:solidFill>
              <a:srgbClr val="0F766E"/>
            </a:solidFill>
            <a:prstDash val="solid"/>
          </a:ln>
        </p:spPr>
      </p:sp>
      <p:sp>
        <p:nvSpPr>
          <p:cNvPr id="26" name="Text 24"/>
          <p:cNvSpPr/>
          <p:nvPr/>
        </p:nvSpPr>
        <p:spPr>
          <a:xfrm>
            <a:off x="3383280" y="5166360"/>
            <a:ext cx="2331720" cy="502920"/>
          </a:xfrm>
          <a:prstGeom prst="rect">
            <a:avLst/>
          </a:prstGeom>
          <a:noFill/>
          <a:ln/>
        </p:spPr>
        <p:txBody>
          <a:bodyPr wrap="square" lIns="0" tIns="0" rIns="0" bIns="0" rtlCol="0" anchor="ctr"/>
          <a:lstStyle/>
          <a:p>
            <a:pPr algn="ctr" indent="0" marL="0">
              <a:buNone/>
            </a:pPr>
            <a:r>
              <a:rPr lang="en-US" sz="1600" b="1" dirty="0">
                <a:solidFill>
                  <a:srgbClr val="0F766E"/>
                </a:solidFill>
                <a:latin typeface="Calibri" pitchFamily="34" charset="0"/>
                <a:ea typeface="Calibri" pitchFamily="34" charset="-122"/>
                <a:cs typeface="Calibri" pitchFamily="34" charset="-120"/>
              </a:rPr>
              <a:t>welcoming</a:t>
            </a:r>
            <a:endParaRPr lang="en-US" sz="1600" dirty="0"/>
          </a:p>
        </p:txBody>
      </p:sp>
      <p:sp>
        <p:nvSpPr>
          <p:cNvPr id="27" name="Shape 25"/>
          <p:cNvSpPr/>
          <p:nvPr/>
        </p:nvSpPr>
        <p:spPr>
          <a:xfrm>
            <a:off x="6126480" y="1554480"/>
            <a:ext cx="5577840" cy="4572000"/>
          </a:xfrm>
          <a:prstGeom prst="rect">
            <a:avLst/>
          </a:prstGeom>
          <a:solidFill>
            <a:srgbClr val="FEF2F2"/>
          </a:solidFill>
          <a:ln w="12700">
            <a:solidFill>
              <a:srgbClr val="FCA5A5"/>
            </a:solidFill>
            <a:prstDash val="solid"/>
          </a:ln>
        </p:spPr>
      </p:sp>
      <p:sp>
        <p:nvSpPr>
          <p:cNvPr id="28" name="Text 26"/>
          <p:cNvSpPr/>
          <p:nvPr/>
        </p:nvSpPr>
        <p:spPr>
          <a:xfrm>
            <a:off x="6355080" y="1737360"/>
            <a:ext cx="5120640" cy="320040"/>
          </a:xfrm>
          <a:prstGeom prst="rect">
            <a:avLst/>
          </a:prstGeom>
          <a:noFill/>
          <a:ln/>
        </p:spPr>
        <p:txBody>
          <a:bodyPr wrap="square" lIns="0" tIns="0" rIns="0" bIns="0" rtlCol="0" anchor="ctr"/>
          <a:lstStyle/>
          <a:p>
            <a:pPr indent="0" marL="0">
              <a:buNone/>
            </a:pPr>
            <a:r>
              <a:rPr lang="en-US" sz="1100" b="1" spc="400" kern="0" dirty="0">
                <a:solidFill>
                  <a:srgbClr val="DC2626"/>
                </a:solidFill>
                <a:latin typeface="Calibri" pitchFamily="34" charset="0"/>
                <a:ea typeface="Calibri" pitchFamily="34" charset="-122"/>
                <a:cs typeface="Calibri" pitchFamily="34" charset="-120"/>
              </a:rPr>
              <a:t>NEGATIVE-DRIVING TERMS</a:t>
            </a:r>
            <a:endParaRPr lang="en-US" sz="1100" dirty="0"/>
          </a:p>
        </p:txBody>
      </p:sp>
      <p:sp>
        <p:nvSpPr>
          <p:cNvPr id="29" name="Text 27"/>
          <p:cNvSpPr/>
          <p:nvPr/>
        </p:nvSpPr>
        <p:spPr>
          <a:xfrm>
            <a:off x="6355080" y="2057400"/>
            <a:ext cx="5120640" cy="320040"/>
          </a:xfrm>
          <a:prstGeom prst="rect">
            <a:avLst/>
          </a:prstGeom>
          <a:noFill/>
          <a:ln/>
        </p:spPr>
        <p:txBody>
          <a:bodyPr wrap="square" lIns="0" tIns="0" rIns="0" bIns="0" rtlCol="0" anchor="ctr"/>
          <a:lstStyle/>
          <a:p>
            <a:pPr indent="0" marL="0">
              <a:buNone/>
            </a:pPr>
            <a:r>
              <a:rPr lang="en-US" sz="1300" i="1" dirty="0">
                <a:solidFill>
                  <a:srgbClr val="1F2937"/>
                </a:solidFill>
                <a:latin typeface="Calibri" pitchFamily="34" charset="0"/>
                <a:ea typeface="Calibri" pitchFamily="34" charset="-122"/>
                <a:cs typeface="Calibri" pitchFamily="34" charset="-120"/>
              </a:rPr>
              <a:t>Top SVM coefficients — negative class</a:t>
            </a:r>
            <a:endParaRPr lang="en-US" sz="1300" dirty="0"/>
          </a:p>
        </p:txBody>
      </p:sp>
      <p:sp>
        <p:nvSpPr>
          <p:cNvPr id="30" name="Shape 28"/>
          <p:cNvSpPr/>
          <p:nvPr/>
        </p:nvSpPr>
        <p:spPr>
          <a:xfrm>
            <a:off x="6446520" y="2606040"/>
            <a:ext cx="2331720" cy="502920"/>
          </a:xfrm>
          <a:prstGeom prst="rect">
            <a:avLst/>
          </a:prstGeom>
          <a:solidFill>
            <a:srgbClr val="FFFFFF"/>
          </a:solidFill>
          <a:ln w="12700">
            <a:solidFill>
              <a:srgbClr val="FCA5A5"/>
            </a:solidFill>
            <a:prstDash val="solid"/>
          </a:ln>
        </p:spPr>
      </p:sp>
      <p:sp>
        <p:nvSpPr>
          <p:cNvPr id="31" name="Text 29"/>
          <p:cNvSpPr/>
          <p:nvPr/>
        </p:nvSpPr>
        <p:spPr>
          <a:xfrm>
            <a:off x="6446520" y="2606040"/>
            <a:ext cx="2331720" cy="50292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rude</a:t>
            </a:r>
            <a:endParaRPr lang="en-US" sz="1600" dirty="0"/>
          </a:p>
        </p:txBody>
      </p:sp>
      <p:sp>
        <p:nvSpPr>
          <p:cNvPr id="32" name="Shape 30"/>
          <p:cNvSpPr/>
          <p:nvPr/>
        </p:nvSpPr>
        <p:spPr>
          <a:xfrm>
            <a:off x="9052560" y="2606040"/>
            <a:ext cx="2331720" cy="502920"/>
          </a:xfrm>
          <a:prstGeom prst="rect">
            <a:avLst/>
          </a:prstGeom>
          <a:solidFill>
            <a:srgbClr val="FFFFFF"/>
          </a:solidFill>
          <a:ln w="12700">
            <a:solidFill>
              <a:srgbClr val="FCA5A5"/>
            </a:solidFill>
            <a:prstDash val="solid"/>
          </a:ln>
        </p:spPr>
      </p:sp>
      <p:sp>
        <p:nvSpPr>
          <p:cNvPr id="33" name="Text 31"/>
          <p:cNvSpPr/>
          <p:nvPr/>
        </p:nvSpPr>
        <p:spPr>
          <a:xfrm>
            <a:off x="9052560" y="2606040"/>
            <a:ext cx="2331720" cy="50292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told</a:t>
            </a:r>
            <a:endParaRPr lang="en-US" sz="1600" dirty="0"/>
          </a:p>
        </p:txBody>
      </p:sp>
      <p:sp>
        <p:nvSpPr>
          <p:cNvPr id="34" name="Shape 32"/>
          <p:cNvSpPr/>
          <p:nvPr/>
        </p:nvSpPr>
        <p:spPr>
          <a:xfrm>
            <a:off x="6446520" y="3246120"/>
            <a:ext cx="2331720" cy="502920"/>
          </a:xfrm>
          <a:prstGeom prst="rect">
            <a:avLst/>
          </a:prstGeom>
          <a:solidFill>
            <a:srgbClr val="FFFFFF"/>
          </a:solidFill>
          <a:ln w="12700">
            <a:solidFill>
              <a:srgbClr val="FCA5A5"/>
            </a:solidFill>
            <a:prstDash val="solid"/>
          </a:ln>
        </p:spPr>
      </p:sp>
      <p:sp>
        <p:nvSpPr>
          <p:cNvPr id="35" name="Text 33"/>
          <p:cNvSpPr/>
          <p:nvPr/>
        </p:nvSpPr>
        <p:spPr>
          <a:xfrm>
            <a:off x="6446520" y="3246120"/>
            <a:ext cx="2331720" cy="50292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cancel</a:t>
            </a:r>
            <a:endParaRPr lang="en-US" sz="1600" dirty="0"/>
          </a:p>
        </p:txBody>
      </p:sp>
      <p:sp>
        <p:nvSpPr>
          <p:cNvPr id="36" name="Shape 34"/>
          <p:cNvSpPr/>
          <p:nvPr/>
        </p:nvSpPr>
        <p:spPr>
          <a:xfrm>
            <a:off x="9052560" y="3246120"/>
            <a:ext cx="2331720" cy="502920"/>
          </a:xfrm>
          <a:prstGeom prst="rect">
            <a:avLst/>
          </a:prstGeom>
          <a:solidFill>
            <a:srgbClr val="FFFFFF"/>
          </a:solidFill>
          <a:ln w="12700">
            <a:solidFill>
              <a:srgbClr val="FCA5A5"/>
            </a:solidFill>
            <a:prstDash val="solid"/>
          </a:ln>
        </p:spPr>
      </p:sp>
      <p:sp>
        <p:nvSpPr>
          <p:cNvPr id="37" name="Text 35"/>
          <p:cNvSpPr/>
          <p:nvPr/>
        </p:nvSpPr>
        <p:spPr>
          <a:xfrm>
            <a:off x="9052560" y="3246120"/>
            <a:ext cx="2331720" cy="50292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money</a:t>
            </a:r>
            <a:endParaRPr lang="en-US" sz="1600" dirty="0"/>
          </a:p>
        </p:txBody>
      </p:sp>
      <p:sp>
        <p:nvSpPr>
          <p:cNvPr id="38" name="Shape 36"/>
          <p:cNvSpPr/>
          <p:nvPr/>
        </p:nvSpPr>
        <p:spPr>
          <a:xfrm>
            <a:off x="6446520" y="3886200"/>
            <a:ext cx="2331720" cy="502920"/>
          </a:xfrm>
          <a:prstGeom prst="rect">
            <a:avLst/>
          </a:prstGeom>
          <a:solidFill>
            <a:srgbClr val="FFFFFF"/>
          </a:solidFill>
          <a:ln w="12700">
            <a:solidFill>
              <a:srgbClr val="FCA5A5"/>
            </a:solidFill>
            <a:prstDash val="solid"/>
          </a:ln>
        </p:spPr>
      </p:sp>
      <p:sp>
        <p:nvSpPr>
          <p:cNvPr id="39" name="Text 37"/>
          <p:cNvSpPr/>
          <p:nvPr/>
        </p:nvSpPr>
        <p:spPr>
          <a:xfrm>
            <a:off x="6446520" y="3886200"/>
            <a:ext cx="2331720" cy="50292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business</a:t>
            </a:r>
            <a:endParaRPr lang="en-US" sz="1600" dirty="0"/>
          </a:p>
        </p:txBody>
      </p:sp>
      <p:sp>
        <p:nvSpPr>
          <p:cNvPr id="40" name="Shape 38"/>
          <p:cNvSpPr/>
          <p:nvPr/>
        </p:nvSpPr>
        <p:spPr>
          <a:xfrm>
            <a:off x="9052560" y="3886200"/>
            <a:ext cx="2331720" cy="502920"/>
          </a:xfrm>
          <a:prstGeom prst="rect">
            <a:avLst/>
          </a:prstGeom>
          <a:solidFill>
            <a:srgbClr val="FFFFFF"/>
          </a:solidFill>
          <a:ln w="12700">
            <a:solidFill>
              <a:srgbClr val="FCA5A5"/>
            </a:solidFill>
            <a:prstDash val="solid"/>
          </a:ln>
        </p:spPr>
      </p:sp>
      <p:sp>
        <p:nvSpPr>
          <p:cNvPr id="41" name="Text 39"/>
          <p:cNvSpPr/>
          <p:nvPr/>
        </p:nvSpPr>
        <p:spPr>
          <a:xfrm>
            <a:off x="9052560" y="3886200"/>
            <a:ext cx="2331720" cy="50292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didn't</a:t>
            </a:r>
            <a:endParaRPr lang="en-US" sz="1600" dirty="0"/>
          </a:p>
        </p:txBody>
      </p:sp>
      <p:sp>
        <p:nvSpPr>
          <p:cNvPr id="42" name="Shape 40"/>
          <p:cNvSpPr/>
          <p:nvPr/>
        </p:nvSpPr>
        <p:spPr>
          <a:xfrm>
            <a:off x="6446520" y="4526280"/>
            <a:ext cx="2331720" cy="502920"/>
          </a:xfrm>
          <a:prstGeom prst="rect">
            <a:avLst/>
          </a:prstGeom>
          <a:solidFill>
            <a:srgbClr val="FFFFFF"/>
          </a:solidFill>
          <a:ln w="12700">
            <a:solidFill>
              <a:srgbClr val="FCA5A5"/>
            </a:solidFill>
            <a:prstDash val="solid"/>
          </a:ln>
        </p:spPr>
      </p:sp>
      <p:sp>
        <p:nvSpPr>
          <p:cNvPr id="43" name="Text 41"/>
          <p:cNvSpPr/>
          <p:nvPr/>
        </p:nvSpPr>
        <p:spPr>
          <a:xfrm>
            <a:off x="6446520" y="4526280"/>
            <a:ext cx="2331720" cy="50292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worst</a:t>
            </a:r>
            <a:endParaRPr lang="en-US" sz="1600" dirty="0"/>
          </a:p>
        </p:txBody>
      </p:sp>
      <p:sp>
        <p:nvSpPr>
          <p:cNvPr id="44" name="Shape 42"/>
          <p:cNvSpPr/>
          <p:nvPr/>
        </p:nvSpPr>
        <p:spPr>
          <a:xfrm>
            <a:off x="9052560" y="4526280"/>
            <a:ext cx="2331720" cy="502920"/>
          </a:xfrm>
          <a:prstGeom prst="rect">
            <a:avLst/>
          </a:prstGeom>
          <a:solidFill>
            <a:srgbClr val="FFFFFF"/>
          </a:solidFill>
          <a:ln w="12700">
            <a:solidFill>
              <a:srgbClr val="FCA5A5"/>
            </a:solidFill>
            <a:prstDash val="solid"/>
          </a:ln>
        </p:spPr>
      </p:sp>
      <p:sp>
        <p:nvSpPr>
          <p:cNvPr id="45" name="Text 43"/>
          <p:cNvSpPr/>
          <p:nvPr/>
        </p:nvSpPr>
        <p:spPr>
          <a:xfrm>
            <a:off x="9052560" y="4526280"/>
            <a:ext cx="2331720" cy="50292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broken</a:t>
            </a:r>
            <a:endParaRPr lang="en-US" sz="1600" dirty="0"/>
          </a:p>
        </p:txBody>
      </p:sp>
      <p:sp>
        <p:nvSpPr>
          <p:cNvPr id="46" name="Shape 44"/>
          <p:cNvSpPr/>
          <p:nvPr/>
        </p:nvSpPr>
        <p:spPr>
          <a:xfrm>
            <a:off x="6446520" y="5166360"/>
            <a:ext cx="2331720" cy="502920"/>
          </a:xfrm>
          <a:prstGeom prst="rect">
            <a:avLst/>
          </a:prstGeom>
          <a:solidFill>
            <a:srgbClr val="FFFFFF"/>
          </a:solidFill>
          <a:ln w="12700">
            <a:solidFill>
              <a:srgbClr val="FCA5A5"/>
            </a:solidFill>
            <a:prstDash val="solid"/>
          </a:ln>
        </p:spPr>
      </p:sp>
      <p:sp>
        <p:nvSpPr>
          <p:cNvPr id="47" name="Text 45"/>
          <p:cNvSpPr/>
          <p:nvPr/>
        </p:nvSpPr>
        <p:spPr>
          <a:xfrm>
            <a:off x="6446520" y="5166360"/>
            <a:ext cx="2331720" cy="50292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contract</a:t>
            </a:r>
            <a:endParaRPr lang="en-US" sz="1600" dirty="0"/>
          </a:p>
        </p:txBody>
      </p:sp>
      <p:sp>
        <p:nvSpPr>
          <p:cNvPr id="48" name="Shape 46"/>
          <p:cNvSpPr/>
          <p:nvPr/>
        </p:nvSpPr>
        <p:spPr>
          <a:xfrm>
            <a:off x="9052560" y="5166360"/>
            <a:ext cx="2331720" cy="502920"/>
          </a:xfrm>
          <a:prstGeom prst="rect">
            <a:avLst/>
          </a:prstGeom>
          <a:solidFill>
            <a:srgbClr val="FFFFFF"/>
          </a:solidFill>
          <a:ln w="12700">
            <a:solidFill>
              <a:srgbClr val="FCA5A5"/>
            </a:solidFill>
            <a:prstDash val="solid"/>
          </a:ln>
        </p:spPr>
      </p:sp>
      <p:sp>
        <p:nvSpPr>
          <p:cNvPr id="49" name="Text 47"/>
          <p:cNvSpPr/>
          <p:nvPr/>
        </p:nvSpPr>
        <p:spPr>
          <a:xfrm>
            <a:off x="9052560" y="5166360"/>
            <a:ext cx="2331720" cy="50292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horrible</a:t>
            </a:r>
            <a:endParaRPr lang="en-US" sz="1600" dirty="0"/>
          </a:p>
        </p:txBody>
      </p:sp>
      <p:sp>
        <p:nvSpPr>
          <p:cNvPr id="50" name="Shape 48"/>
          <p:cNvSpPr/>
          <p:nvPr/>
        </p:nvSpPr>
        <p:spPr>
          <a:xfrm>
            <a:off x="457200" y="6080760"/>
            <a:ext cx="11247120" cy="365760"/>
          </a:xfrm>
          <a:prstGeom prst="rect">
            <a:avLst/>
          </a:prstGeom>
          <a:solidFill>
            <a:srgbClr val="1F2937"/>
          </a:solidFill>
          <a:ln/>
        </p:spPr>
      </p:sp>
      <p:sp>
        <p:nvSpPr>
          <p:cNvPr id="51" name="Text 49"/>
          <p:cNvSpPr/>
          <p:nvPr/>
        </p:nvSpPr>
        <p:spPr>
          <a:xfrm>
            <a:off x="457200" y="6080760"/>
            <a:ext cx="11247120" cy="36576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Positive language is about people; negative language is about money, contracts, and customer service.</a:t>
            </a:r>
            <a:endParaRPr lang="en-US" sz="1300" dirty="0"/>
          </a:p>
        </p:txBody>
      </p:sp>
      <p:sp>
        <p:nvSpPr>
          <p:cNvPr id="52" name="Text 50"/>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10  •  METHODS COMPARISON</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Six methods, one headline: few-shot Llama wins on negative-class F1</a:t>
            </a:r>
            <a:endParaRPr lang="en-US" sz="3000" dirty="0"/>
          </a:p>
        </p:txBody>
      </p:sp>
      <p:graphicFrame>
        <p:nvGraphicFramePr>
          <p:cNvPr id="4" name="Chart 0" descr=""/>
          <p:cNvGraphicFramePr/>
          <p:nvPr/>
        </p:nvGraphicFramePr>
        <p:xfrm>
          <a:off x="457200" y="1508760"/>
          <a:ext cx="7315200" cy="4754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55280" y="1508760"/>
            <a:ext cx="3749040" cy="4754880"/>
          </a:xfrm>
          <a:prstGeom prst="rect">
            <a:avLst/>
          </a:prstGeom>
          <a:solidFill>
            <a:srgbClr val="F8FAFC"/>
          </a:solidFill>
          <a:ln w="12700">
            <a:solidFill>
              <a:srgbClr val="E2E8F0"/>
            </a:solidFill>
            <a:prstDash val="solid"/>
          </a:ln>
        </p:spPr>
      </p:sp>
      <p:sp>
        <p:nvSpPr>
          <p:cNvPr id="6" name="Shape 3"/>
          <p:cNvSpPr/>
          <p:nvPr/>
        </p:nvSpPr>
        <p:spPr>
          <a:xfrm>
            <a:off x="7955280" y="1508760"/>
            <a:ext cx="91440" cy="4754880"/>
          </a:xfrm>
          <a:prstGeom prst="rect">
            <a:avLst/>
          </a:prstGeom>
          <a:solidFill>
            <a:srgbClr val="0F766E"/>
          </a:solidFill>
          <a:ln/>
        </p:spPr>
      </p:sp>
      <p:sp>
        <p:nvSpPr>
          <p:cNvPr id="7" name="Text 4"/>
          <p:cNvSpPr/>
          <p:nvPr/>
        </p:nvSpPr>
        <p:spPr>
          <a:xfrm>
            <a:off x="8183880" y="1691640"/>
            <a:ext cx="3383280" cy="32004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READING THE TABLE</a:t>
            </a:r>
            <a:endParaRPr lang="en-US" sz="1100" dirty="0"/>
          </a:p>
        </p:txBody>
      </p:sp>
      <p:sp>
        <p:nvSpPr>
          <p:cNvPr id="8" name="Text 5"/>
          <p:cNvSpPr/>
          <p:nvPr/>
        </p:nvSpPr>
        <p:spPr>
          <a:xfrm>
            <a:off x="8183880" y="2057400"/>
            <a:ext cx="3383280" cy="411480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Llama few-shot: best for context</a:t>
            </a:r>
            <a:endParaRPr lang="en-US" sz="1300" dirty="0"/>
          </a:p>
          <a:p>
            <a:pPr indent="0" marL="0">
              <a:buNone/>
            </a:pPr>
            <a:r>
              <a:rPr lang="en-US" sz="1200" dirty="0">
                <a:solidFill>
                  <a:srgbClr val="0F172A"/>
                </a:solidFill>
                <a:latin typeface="Calibri" pitchFamily="34" charset="0"/>
                <a:ea typeface="Calibri" pitchFamily="34" charset="-122"/>
                <a:cs typeface="Calibri" pitchFamily="34" charset="-120"/>
              </a:rPr>
              <a:t>Reads mixed sentiment that lexicon and bag-of-words methods miss.</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SVM: best practical default</a:t>
            </a:r>
            <a:endParaRPr lang="en-US" sz="1300" dirty="0"/>
          </a:p>
          <a:p>
            <a:pPr indent="0" marL="0">
              <a:buNone/>
            </a:pPr>
            <a:r>
              <a:rPr lang="en-US" sz="1200" dirty="0">
                <a:solidFill>
                  <a:srgbClr val="0F172A"/>
                </a:solidFill>
                <a:latin typeface="Calibri" pitchFamily="34" charset="0"/>
                <a:ea typeface="Calibri" pitchFamily="34" charset="-122"/>
                <a:cs typeface="Calibri" pitchFamily="34" charset="-120"/>
              </a:rPr>
              <a:t>Fast, deterministic, and the coefficients are directly readable.</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GRU: complexity without payoff</a:t>
            </a:r>
            <a:endParaRPr lang="en-US" sz="1300" dirty="0"/>
          </a:p>
          <a:p>
            <a:pPr indent="0" marL="0">
              <a:buNone/>
            </a:pPr>
            <a:r>
              <a:rPr lang="en-US" sz="1200" dirty="0">
                <a:solidFill>
                  <a:srgbClr val="0F172A"/>
                </a:solidFill>
                <a:latin typeface="Calibri" pitchFamily="34" charset="0"/>
                <a:ea typeface="Calibri" pitchFamily="34" charset="-122"/>
                <a:cs typeface="Calibri" pitchFamily="34" charset="-120"/>
              </a:rPr>
              <a:t>Bag-of-words is hard to beat on short, polarized review text.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VADER: useful as a baseline</a:t>
            </a:r>
            <a:endParaRPr lang="en-US" sz="1300" dirty="0"/>
          </a:p>
          <a:p>
            <a:pPr indent="0" marL="0">
              <a:buNone/>
            </a:pPr>
            <a:r>
              <a:rPr lang="en-US" sz="1200" dirty="0">
                <a:solidFill>
                  <a:srgbClr val="0F172A"/>
                </a:solidFill>
                <a:latin typeface="Calibri" pitchFamily="34" charset="0"/>
                <a:ea typeface="Calibri" pitchFamily="34" charset="-122"/>
                <a:cs typeface="Calibri" pitchFamily="34" charset="-120"/>
              </a:rPr>
              <a:t>Polite complaints break it; that's where the upgrade pays off.</a:t>
            </a:r>
            <a:endParaRPr lang="en-US" sz="1300" dirty="0"/>
          </a:p>
        </p:txBody>
      </p:sp>
      <p:sp>
        <p:nvSpPr>
          <p:cNvPr id="9" name="Text 6"/>
          <p:cNvSpPr/>
          <p:nvPr/>
        </p:nvSpPr>
        <p:spPr>
          <a:xfrm>
            <a:off x="457200" y="6355080"/>
            <a:ext cx="1124712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Note: VADER and Llama scored on a balanced 200-review sample; SVM and GRU scored on the stratified 643-review test set. The ordering is robust across both slices.</a:t>
            </a:r>
            <a:endParaRPr lang="en-US" sz="1000" dirty="0"/>
          </a:p>
        </p:txBody>
      </p:sp>
      <p:sp>
        <p:nvSpPr>
          <p:cNvPr id="10" name="Text 7"/>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09  •  BUSINESS INSIGHTS</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Three insights an owner can act on this week</a:t>
            </a:r>
            <a:endParaRPr lang="en-US" sz="3000" dirty="0"/>
          </a:p>
        </p:txBody>
      </p:sp>
      <p:sp>
        <p:nvSpPr>
          <p:cNvPr id="4" name="Shape 2"/>
          <p:cNvSpPr/>
          <p:nvPr/>
        </p:nvSpPr>
        <p:spPr>
          <a:xfrm>
            <a:off x="457200" y="1600200"/>
            <a:ext cx="11247120" cy="1280160"/>
          </a:xfrm>
          <a:prstGeom prst="rect">
            <a:avLst/>
          </a:prstGeom>
          <a:solidFill>
            <a:srgbClr val="F8FAFC"/>
          </a:solidFill>
          <a:ln w="12700">
            <a:solidFill>
              <a:srgbClr val="E2E8F0"/>
            </a:solidFill>
            <a:prstDash val="solid"/>
          </a:ln>
        </p:spPr>
      </p:sp>
      <p:sp>
        <p:nvSpPr>
          <p:cNvPr id="5" name="Shape 3"/>
          <p:cNvSpPr/>
          <p:nvPr/>
        </p:nvSpPr>
        <p:spPr>
          <a:xfrm>
            <a:off x="457200" y="1600200"/>
            <a:ext cx="1645920" cy="1280160"/>
          </a:xfrm>
          <a:prstGeom prst="rect">
            <a:avLst/>
          </a:prstGeom>
          <a:solidFill>
            <a:srgbClr val="1F2937"/>
          </a:solidFill>
          <a:ln/>
        </p:spPr>
      </p:sp>
      <p:sp>
        <p:nvSpPr>
          <p:cNvPr id="6" name="Text 4"/>
          <p:cNvSpPr/>
          <p:nvPr/>
        </p:nvSpPr>
        <p:spPr>
          <a:xfrm>
            <a:off x="457200" y="1600200"/>
            <a:ext cx="1645920" cy="1280160"/>
          </a:xfrm>
          <a:prstGeom prst="rect">
            <a:avLst/>
          </a:prstGeom>
          <a:noFill/>
          <a:ln/>
        </p:spPr>
        <p:txBody>
          <a:bodyPr wrap="square" lIns="0" tIns="0" rIns="0" bIns="0" rtlCol="0" anchor="ctr"/>
          <a:lstStyle/>
          <a:p>
            <a:pPr algn="ctr" indent="0" marL="0">
              <a:buNone/>
            </a:pPr>
            <a:r>
              <a:rPr lang="en-US" sz="1200" b="1" spc="400" kern="0" dirty="0">
                <a:solidFill>
                  <a:srgbClr val="14B8A6"/>
                </a:solidFill>
                <a:latin typeface="Calibri" pitchFamily="34" charset="0"/>
                <a:ea typeface="Calibri" pitchFamily="34" charset="-122"/>
                <a:cs typeface="Calibri" pitchFamily="34" charset="-120"/>
              </a:rPr>
              <a:t>MARKETING</a:t>
            </a:r>
            <a:endParaRPr lang="en-US" sz="1200" dirty="0"/>
          </a:p>
        </p:txBody>
      </p:sp>
      <p:sp>
        <p:nvSpPr>
          <p:cNvPr id="7" name="Text 5"/>
          <p:cNvSpPr/>
          <p:nvPr/>
        </p:nvSpPr>
        <p:spPr>
          <a:xfrm>
            <a:off x="2286000" y="1737360"/>
            <a:ext cx="9235440" cy="457200"/>
          </a:xfrm>
          <a:prstGeom prst="rect">
            <a:avLst/>
          </a:prstGeom>
          <a:noFill/>
          <a:ln/>
        </p:spPr>
        <p:txBody>
          <a:bodyPr wrap="square" lIns="0" tIns="0" rIns="0" bIns="0" rtlCol="0" anchor="t"/>
          <a:lstStyle/>
          <a:p>
            <a:pPr indent="0" marL="0">
              <a:buNone/>
            </a:pPr>
            <a:r>
              <a:rPr lang="en-US" sz="1700" b="1" dirty="0">
                <a:solidFill>
                  <a:srgbClr val="1F2937"/>
                </a:solidFill>
                <a:latin typeface="Calibri" pitchFamily="34" charset="0"/>
                <a:ea typeface="Calibri" pitchFamily="34" charset="-122"/>
                <a:cs typeface="Calibri" pitchFamily="34" charset="-120"/>
              </a:rPr>
              <a:t>Lead with the coach, not the curriculum.</a:t>
            </a:r>
            <a:endParaRPr lang="en-US" sz="1700" dirty="0"/>
          </a:p>
        </p:txBody>
      </p:sp>
      <p:sp>
        <p:nvSpPr>
          <p:cNvPr id="8" name="Text 6"/>
          <p:cNvSpPr/>
          <p:nvPr/>
        </p:nvSpPr>
        <p:spPr>
          <a:xfrm>
            <a:off x="2286000" y="2240280"/>
            <a:ext cx="9235440" cy="59436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Positive reviews repeatedly name instructors and describe how welcomed beginners felt. That's the headline for landing pages, intro emails, and trial-class scripts.</a:t>
            </a:r>
            <a:endParaRPr lang="en-US" sz="1300" dirty="0"/>
          </a:p>
        </p:txBody>
      </p:sp>
      <p:sp>
        <p:nvSpPr>
          <p:cNvPr id="9" name="Shape 7"/>
          <p:cNvSpPr/>
          <p:nvPr/>
        </p:nvSpPr>
        <p:spPr>
          <a:xfrm>
            <a:off x="457200" y="3044952"/>
            <a:ext cx="11247120" cy="1280160"/>
          </a:xfrm>
          <a:prstGeom prst="rect">
            <a:avLst/>
          </a:prstGeom>
          <a:solidFill>
            <a:srgbClr val="F8FAFC"/>
          </a:solidFill>
          <a:ln w="12700">
            <a:solidFill>
              <a:srgbClr val="E2E8F0"/>
            </a:solidFill>
            <a:prstDash val="solid"/>
          </a:ln>
        </p:spPr>
      </p:sp>
      <p:sp>
        <p:nvSpPr>
          <p:cNvPr id="10" name="Shape 8"/>
          <p:cNvSpPr/>
          <p:nvPr/>
        </p:nvSpPr>
        <p:spPr>
          <a:xfrm>
            <a:off x="457200" y="3044952"/>
            <a:ext cx="1645920" cy="1280160"/>
          </a:xfrm>
          <a:prstGeom prst="rect">
            <a:avLst/>
          </a:prstGeom>
          <a:solidFill>
            <a:srgbClr val="1F2937"/>
          </a:solidFill>
          <a:ln/>
        </p:spPr>
      </p:sp>
      <p:sp>
        <p:nvSpPr>
          <p:cNvPr id="11" name="Text 9"/>
          <p:cNvSpPr/>
          <p:nvPr/>
        </p:nvSpPr>
        <p:spPr>
          <a:xfrm>
            <a:off x="457200" y="3044952"/>
            <a:ext cx="1645920" cy="1280160"/>
          </a:xfrm>
          <a:prstGeom prst="rect">
            <a:avLst/>
          </a:prstGeom>
          <a:noFill/>
          <a:ln/>
        </p:spPr>
        <p:txBody>
          <a:bodyPr wrap="square" lIns="0" tIns="0" rIns="0" bIns="0" rtlCol="0" anchor="ctr"/>
          <a:lstStyle/>
          <a:p>
            <a:pPr algn="ctr" indent="0" marL="0">
              <a:buNone/>
            </a:pPr>
            <a:r>
              <a:rPr lang="en-US" sz="1200" b="1" spc="400" kern="0" dirty="0">
                <a:solidFill>
                  <a:srgbClr val="14B8A6"/>
                </a:solidFill>
                <a:latin typeface="Calibri" pitchFamily="34" charset="0"/>
                <a:ea typeface="Calibri" pitchFamily="34" charset="-122"/>
                <a:cs typeface="Calibri" pitchFamily="34" charset="-120"/>
              </a:rPr>
              <a:t>RETENTION</a:t>
            </a:r>
            <a:endParaRPr lang="en-US" sz="1200" dirty="0"/>
          </a:p>
        </p:txBody>
      </p:sp>
      <p:sp>
        <p:nvSpPr>
          <p:cNvPr id="12" name="Text 10"/>
          <p:cNvSpPr/>
          <p:nvPr/>
        </p:nvSpPr>
        <p:spPr>
          <a:xfrm>
            <a:off x="2286000" y="3182112"/>
            <a:ext cx="9235440" cy="457200"/>
          </a:xfrm>
          <a:prstGeom prst="rect">
            <a:avLst/>
          </a:prstGeom>
          <a:noFill/>
          <a:ln/>
        </p:spPr>
        <p:txBody>
          <a:bodyPr wrap="square" lIns="0" tIns="0" rIns="0" bIns="0" rtlCol="0" anchor="t"/>
          <a:lstStyle/>
          <a:p>
            <a:pPr indent="0" marL="0">
              <a:buNone/>
            </a:pPr>
            <a:r>
              <a:rPr lang="en-US" sz="1700" b="1" dirty="0">
                <a:solidFill>
                  <a:srgbClr val="1F2937"/>
                </a:solidFill>
                <a:latin typeface="Calibri" pitchFamily="34" charset="0"/>
                <a:ea typeface="Calibri" pitchFamily="34" charset="-122"/>
                <a:cs typeface="Calibri" pitchFamily="34" charset="-120"/>
              </a:rPr>
              <a:t>Operational friction kills more memberships than bad classes do.</a:t>
            </a:r>
            <a:endParaRPr lang="en-US" sz="1700" dirty="0"/>
          </a:p>
        </p:txBody>
      </p:sp>
      <p:sp>
        <p:nvSpPr>
          <p:cNvPr id="13" name="Text 11"/>
          <p:cNvSpPr/>
          <p:nvPr/>
        </p:nvSpPr>
        <p:spPr>
          <a:xfrm>
            <a:off x="2286000" y="3685032"/>
            <a:ext cx="9235440" cy="59436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Negative reviews cluster on contracts, cancellations, billing, and front-desk interactions. Audit and rewrite those workflows before adding new programs.</a:t>
            </a:r>
            <a:endParaRPr lang="en-US" sz="1300" dirty="0"/>
          </a:p>
        </p:txBody>
      </p:sp>
      <p:sp>
        <p:nvSpPr>
          <p:cNvPr id="14" name="Shape 12"/>
          <p:cNvSpPr/>
          <p:nvPr/>
        </p:nvSpPr>
        <p:spPr>
          <a:xfrm>
            <a:off x="457200" y="4489704"/>
            <a:ext cx="11247120" cy="1280160"/>
          </a:xfrm>
          <a:prstGeom prst="rect">
            <a:avLst/>
          </a:prstGeom>
          <a:solidFill>
            <a:srgbClr val="F8FAFC"/>
          </a:solidFill>
          <a:ln w="12700">
            <a:solidFill>
              <a:srgbClr val="E2E8F0"/>
            </a:solidFill>
            <a:prstDash val="solid"/>
          </a:ln>
        </p:spPr>
      </p:sp>
      <p:sp>
        <p:nvSpPr>
          <p:cNvPr id="15" name="Shape 13"/>
          <p:cNvSpPr/>
          <p:nvPr/>
        </p:nvSpPr>
        <p:spPr>
          <a:xfrm>
            <a:off x="457200" y="4489704"/>
            <a:ext cx="1645920" cy="1280160"/>
          </a:xfrm>
          <a:prstGeom prst="rect">
            <a:avLst/>
          </a:prstGeom>
          <a:solidFill>
            <a:srgbClr val="1F2937"/>
          </a:solidFill>
          <a:ln/>
        </p:spPr>
      </p:sp>
      <p:sp>
        <p:nvSpPr>
          <p:cNvPr id="16" name="Text 14"/>
          <p:cNvSpPr/>
          <p:nvPr/>
        </p:nvSpPr>
        <p:spPr>
          <a:xfrm>
            <a:off x="457200" y="4489704"/>
            <a:ext cx="1645920" cy="1280160"/>
          </a:xfrm>
          <a:prstGeom prst="rect">
            <a:avLst/>
          </a:prstGeom>
          <a:noFill/>
          <a:ln/>
        </p:spPr>
        <p:txBody>
          <a:bodyPr wrap="square" lIns="0" tIns="0" rIns="0" bIns="0" rtlCol="0" anchor="ctr"/>
          <a:lstStyle/>
          <a:p>
            <a:pPr algn="ctr" indent="0" marL="0">
              <a:buNone/>
            </a:pPr>
            <a:r>
              <a:rPr lang="en-US" sz="1200" b="1" spc="400" kern="0" dirty="0">
                <a:solidFill>
                  <a:srgbClr val="14B8A6"/>
                </a:solidFill>
                <a:latin typeface="Calibri" pitchFamily="34" charset="0"/>
                <a:ea typeface="Calibri" pitchFamily="34" charset="-122"/>
                <a:cs typeface="Calibri" pitchFamily="34" charset="-120"/>
              </a:rPr>
              <a:t>MEASUREMENT</a:t>
            </a:r>
            <a:endParaRPr lang="en-US" sz="1200" dirty="0"/>
          </a:p>
        </p:txBody>
      </p:sp>
      <p:sp>
        <p:nvSpPr>
          <p:cNvPr id="17" name="Text 15"/>
          <p:cNvSpPr/>
          <p:nvPr/>
        </p:nvSpPr>
        <p:spPr>
          <a:xfrm>
            <a:off x="2286000" y="4626864"/>
            <a:ext cx="9235440" cy="457200"/>
          </a:xfrm>
          <a:prstGeom prst="rect">
            <a:avLst/>
          </a:prstGeom>
          <a:noFill/>
          <a:ln/>
        </p:spPr>
        <p:txBody>
          <a:bodyPr wrap="square" lIns="0" tIns="0" rIns="0" bIns="0" rtlCol="0" anchor="t"/>
          <a:lstStyle/>
          <a:p>
            <a:pPr indent="0" marL="0">
              <a:buNone/>
            </a:pPr>
            <a:r>
              <a:rPr lang="en-US" sz="1700" b="1" dirty="0">
                <a:solidFill>
                  <a:srgbClr val="1F2937"/>
                </a:solidFill>
                <a:latin typeface="Calibri" pitchFamily="34" charset="0"/>
                <a:ea typeface="Calibri" pitchFamily="34" charset="-122"/>
                <a:cs typeface="Calibri" pitchFamily="34" charset="-120"/>
              </a:rPr>
              <a:t>Triage incoming reviews automatically.</a:t>
            </a:r>
            <a:endParaRPr lang="en-US" sz="1700" dirty="0"/>
          </a:p>
        </p:txBody>
      </p:sp>
      <p:sp>
        <p:nvSpPr>
          <p:cNvPr id="18" name="Text 16"/>
          <p:cNvSpPr/>
          <p:nvPr/>
        </p:nvSpPr>
        <p:spPr>
          <a:xfrm>
            <a:off x="2286000" y="5129784"/>
            <a:ext cx="9235440" cy="59436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The SVM model has 82% recall on negatives. An owner can score new reviews as they post and surface the negative ones for same-day response.</a:t>
            </a:r>
            <a:endParaRPr lang="en-US" sz="1300" dirty="0"/>
          </a:p>
        </p:txBody>
      </p:sp>
      <p:sp>
        <p:nvSpPr>
          <p:cNvPr id="19" name="Text 17"/>
          <p:cNvSpPr/>
          <p:nvPr/>
        </p:nvSpPr>
        <p:spPr>
          <a:xfrm>
            <a:off x="457200" y="6080760"/>
            <a:ext cx="11247120" cy="36576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Each of these maps directly to a method: positives → SVM signals, negatives → SVM signals + LDA topic 0/2, triage → trained classifier.</a:t>
            </a:r>
            <a:endParaRPr lang="en-US" sz="1100" dirty="0"/>
          </a:p>
        </p:txBody>
      </p:sp>
      <p:sp>
        <p:nvSpPr>
          <p:cNvPr id="20" name="Text 18"/>
          <p:cNvSpPr/>
          <p:nvPr/>
        </p:nvSpPr>
        <p:spPr>
          <a:xfrm>
            <a:off x="457200" y="6537960"/>
            <a:ext cx="7315200" cy="22860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Yelp NLP Analysis  •  William Sandoval  •  MS AIB, ASU</a:t>
            </a:r>
            <a:endParaRPr lang="en-US" sz="900" dirty="0"/>
          </a:p>
        </p:txBody>
      </p:sp>
      <p:sp>
        <p:nvSpPr>
          <p:cNvPr id="21" name="Text 19"/>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11247120" cy="27432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10  •  REAL-WORLD APPLICATION</a:t>
            </a:r>
            <a:endParaRPr lang="en-US" sz="1100" dirty="0"/>
          </a:p>
        </p:txBody>
      </p:sp>
      <p:sp>
        <p:nvSpPr>
          <p:cNvPr id="3" name="Text 1"/>
          <p:cNvSpPr/>
          <p:nvPr/>
        </p:nvSpPr>
        <p:spPr>
          <a:xfrm>
            <a:off x="457200" y="713232"/>
            <a:ext cx="11247120" cy="640080"/>
          </a:xfrm>
          <a:prstGeom prst="rect">
            <a:avLst/>
          </a:prstGeom>
          <a:noFill/>
          <a:ln/>
        </p:spPr>
        <p:txBody>
          <a:bodyPr wrap="square" lIns="0" tIns="0" rIns="0" bIns="0" rtlCol="0" anchor="ctr"/>
          <a:lstStyle/>
          <a:p>
            <a:pPr indent="0" marL="0">
              <a:buNone/>
            </a:pPr>
            <a:r>
              <a:rPr lang="en-US" sz="3000" b="1" dirty="0">
                <a:solidFill>
                  <a:srgbClr val="1F2937"/>
                </a:solidFill>
                <a:latin typeface="Calibri" pitchFamily="34" charset="0"/>
                <a:ea typeface="Calibri" pitchFamily="34" charset="-122"/>
                <a:cs typeface="Calibri" pitchFamily="34" charset="-120"/>
              </a:rPr>
              <a:t>Why I built this: applying it at Patriot Martial Arts Academy</a:t>
            </a:r>
            <a:endParaRPr lang="en-US" sz="3000" dirty="0"/>
          </a:p>
        </p:txBody>
      </p:sp>
      <p:sp>
        <p:nvSpPr>
          <p:cNvPr id="4" name="Shape 2"/>
          <p:cNvSpPr/>
          <p:nvPr/>
        </p:nvSpPr>
        <p:spPr>
          <a:xfrm>
            <a:off x="457200" y="1554480"/>
            <a:ext cx="5120640" cy="4572000"/>
          </a:xfrm>
          <a:prstGeom prst="rect">
            <a:avLst/>
          </a:prstGeom>
          <a:solidFill>
            <a:srgbClr val="1F2937"/>
          </a:solidFill>
          <a:ln/>
        </p:spPr>
      </p:sp>
      <p:sp>
        <p:nvSpPr>
          <p:cNvPr id="5" name="Shape 3"/>
          <p:cNvSpPr/>
          <p:nvPr/>
        </p:nvSpPr>
        <p:spPr>
          <a:xfrm>
            <a:off x="457200" y="1554480"/>
            <a:ext cx="109728" cy="4572000"/>
          </a:xfrm>
          <a:prstGeom prst="rect">
            <a:avLst/>
          </a:prstGeom>
          <a:solidFill>
            <a:srgbClr val="14B8A6"/>
          </a:solidFill>
          <a:ln/>
        </p:spPr>
      </p:sp>
      <p:sp>
        <p:nvSpPr>
          <p:cNvPr id="6" name="Text 4"/>
          <p:cNvSpPr/>
          <p:nvPr/>
        </p:nvSpPr>
        <p:spPr>
          <a:xfrm>
            <a:off x="777240" y="1737360"/>
            <a:ext cx="4572000" cy="320040"/>
          </a:xfrm>
          <a:prstGeom prst="rect">
            <a:avLst/>
          </a:prstGeom>
          <a:noFill/>
          <a:ln/>
        </p:spPr>
        <p:txBody>
          <a:bodyPr wrap="square" lIns="0" tIns="0" rIns="0" bIns="0" rtlCol="0" anchor="ctr"/>
          <a:lstStyle/>
          <a:p>
            <a:pPr indent="0" marL="0">
              <a:buNone/>
            </a:pPr>
            <a:r>
              <a:rPr lang="en-US" sz="1100" b="1" spc="400" kern="0" dirty="0">
                <a:solidFill>
                  <a:srgbClr val="14B8A6"/>
                </a:solidFill>
                <a:latin typeface="Calibri" pitchFamily="34" charset="0"/>
                <a:ea typeface="Calibri" pitchFamily="34" charset="-122"/>
                <a:cs typeface="Calibri" pitchFamily="34" charset="-120"/>
              </a:rPr>
              <a:t>ABOUT PATRIOT</a:t>
            </a:r>
            <a:endParaRPr lang="en-US" sz="1100" dirty="0"/>
          </a:p>
        </p:txBody>
      </p:sp>
      <p:sp>
        <p:nvSpPr>
          <p:cNvPr id="7" name="Text 5"/>
          <p:cNvSpPr/>
          <p:nvPr/>
        </p:nvSpPr>
        <p:spPr>
          <a:xfrm>
            <a:off x="777240" y="2103120"/>
            <a:ext cx="466344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Patriot Martial Arts Academy</a:t>
            </a:r>
            <a:endParaRPr lang="en-US" sz="2200" dirty="0"/>
          </a:p>
        </p:txBody>
      </p:sp>
      <p:sp>
        <p:nvSpPr>
          <p:cNvPr id="8" name="Text 6"/>
          <p:cNvSpPr/>
          <p:nvPr/>
        </p:nvSpPr>
        <p:spPr>
          <a:xfrm>
            <a:off x="777240" y="2697480"/>
            <a:ext cx="4663440" cy="365760"/>
          </a:xfrm>
          <a:prstGeom prst="rect">
            <a:avLst/>
          </a:prstGeom>
          <a:noFill/>
          <a:ln/>
        </p:spPr>
        <p:txBody>
          <a:bodyPr wrap="square" lIns="0" tIns="0" rIns="0" bIns="0" rtlCol="0" anchor="ctr"/>
          <a:lstStyle/>
          <a:p>
            <a:pPr indent="0" marL="0">
              <a:buNone/>
            </a:pPr>
            <a:r>
              <a:rPr lang="en-US" sz="1400" i="1" dirty="0">
                <a:solidFill>
                  <a:srgbClr val="CBD5E1"/>
                </a:solidFill>
                <a:latin typeface="Calibri" pitchFamily="34" charset="0"/>
                <a:ea typeface="Calibri" pitchFamily="34" charset="-122"/>
                <a:cs typeface="Calibri" pitchFamily="34" charset="-120"/>
              </a:rPr>
              <a:t>Brazilian Jiu-Jitsu  •  Machida Karate</a:t>
            </a:r>
            <a:endParaRPr lang="en-US" sz="1400" dirty="0"/>
          </a:p>
        </p:txBody>
      </p:sp>
      <p:sp>
        <p:nvSpPr>
          <p:cNvPr id="9" name="Shape 7"/>
          <p:cNvSpPr/>
          <p:nvPr/>
        </p:nvSpPr>
        <p:spPr>
          <a:xfrm>
            <a:off x="777240" y="3246120"/>
            <a:ext cx="4572000" cy="0"/>
          </a:xfrm>
          <a:prstGeom prst="line">
            <a:avLst/>
          </a:prstGeom>
          <a:noFill/>
          <a:ln w="12700">
            <a:solidFill>
              <a:srgbClr val="374151"/>
            </a:solidFill>
            <a:prstDash val="solid"/>
          </a:ln>
        </p:spPr>
      </p:sp>
      <p:sp>
        <p:nvSpPr>
          <p:cNvPr id="10" name="Text 8"/>
          <p:cNvSpPr/>
          <p:nvPr/>
        </p:nvSpPr>
        <p:spPr>
          <a:xfrm>
            <a:off x="777240" y="3429000"/>
            <a:ext cx="4572000" cy="25603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 run a small school. Every enrollment matters, and every churned member is felt directly.</a:t>
            </a:r>
            <a:endParaRPr lang="en-US" sz="14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i="1" dirty="0">
                <a:solidFill>
                  <a:srgbClr val="CBD5E1"/>
                </a:solidFill>
                <a:latin typeface="Calibri" pitchFamily="34" charset="0"/>
                <a:ea typeface="Calibri" pitchFamily="34" charset="-122"/>
                <a:cs typeface="Calibri" pitchFamily="34" charset="-120"/>
              </a:rPr>
              <a:t>This project lets me read the room — at scale — across the whole industry, not just my own gym.</a:t>
            </a:r>
            <a:endParaRPr lang="en-US" sz="1400" dirty="0"/>
          </a:p>
        </p:txBody>
      </p:sp>
      <p:sp>
        <p:nvSpPr>
          <p:cNvPr id="11" name="Shape 9"/>
          <p:cNvSpPr/>
          <p:nvPr/>
        </p:nvSpPr>
        <p:spPr>
          <a:xfrm>
            <a:off x="5760720" y="1554480"/>
            <a:ext cx="3108960" cy="2194560"/>
          </a:xfrm>
          <a:prstGeom prst="rect">
            <a:avLst/>
          </a:prstGeom>
          <a:solidFill>
            <a:srgbClr val="F8FAFC"/>
          </a:solidFill>
          <a:ln w="12700">
            <a:solidFill>
              <a:srgbClr val="E2E8F0"/>
            </a:solidFill>
            <a:prstDash val="solid"/>
          </a:ln>
        </p:spPr>
      </p:sp>
      <p:sp>
        <p:nvSpPr>
          <p:cNvPr id="12" name="Shape 10"/>
          <p:cNvSpPr/>
          <p:nvPr/>
        </p:nvSpPr>
        <p:spPr>
          <a:xfrm>
            <a:off x="5943600" y="1737360"/>
            <a:ext cx="502920" cy="502920"/>
          </a:xfrm>
          <a:prstGeom prst="ellipse">
            <a:avLst/>
          </a:prstGeom>
          <a:solidFill>
            <a:srgbClr val="0F766E"/>
          </a:solidFill>
          <a:ln/>
        </p:spPr>
      </p:sp>
      <p:sp>
        <p:nvSpPr>
          <p:cNvPr id="13" name="Text 11"/>
          <p:cNvSpPr/>
          <p:nvPr/>
        </p:nvSpPr>
        <p:spPr>
          <a:xfrm>
            <a:off x="5943600" y="17373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Text 12"/>
          <p:cNvSpPr/>
          <p:nvPr/>
        </p:nvSpPr>
        <p:spPr>
          <a:xfrm>
            <a:off x="6583680" y="1737360"/>
            <a:ext cx="2103120"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Audit my own intake script</a:t>
            </a:r>
            <a:endParaRPr lang="en-US" sz="1400" dirty="0"/>
          </a:p>
        </p:txBody>
      </p:sp>
      <p:sp>
        <p:nvSpPr>
          <p:cNvPr id="15" name="Text 13"/>
          <p:cNvSpPr/>
          <p:nvPr/>
        </p:nvSpPr>
        <p:spPr>
          <a:xfrm>
            <a:off x="5943600" y="2468880"/>
            <a:ext cx="2743200" cy="118872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Compare what new students hear at Patriot to the language that drives positive reviews industry-wide.</a:t>
            </a:r>
            <a:endParaRPr lang="en-US" sz="1200" dirty="0"/>
          </a:p>
        </p:txBody>
      </p:sp>
      <p:sp>
        <p:nvSpPr>
          <p:cNvPr id="16" name="Shape 14"/>
          <p:cNvSpPr/>
          <p:nvPr/>
        </p:nvSpPr>
        <p:spPr>
          <a:xfrm>
            <a:off x="9052560" y="1554480"/>
            <a:ext cx="3108960" cy="2194560"/>
          </a:xfrm>
          <a:prstGeom prst="rect">
            <a:avLst/>
          </a:prstGeom>
          <a:solidFill>
            <a:srgbClr val="F8FAFC"/>
          </a:solidFill>
          <a:ln w="12700">
            <a:solidFill>
              <a:srgbClr val="E2E8F0"/>
            </a:solidFill>
            <a:prstDash val="solid"/>
          </a:ln>
        </p:spPr>
      </p:sp>
      <p:sp>
        <p:nvSpPr>
          <p:cNvPr id="17" name="Shape 15"/>
          <p:cNvSpPr/>
          <p:nvPr/>
        </p:nvSpPr>
        <p:spPr>
          <a:xfrm>
            <a:off x="9235440" y="1737360"/>
            <a:ext cx="502920" cy="502920"/>
          </a:xfrm>
          <a:prstGeom prst="ellipse">
            <a:avLst/>
          </a:prstGeom>
          <a:solidFill>
            <a:srgbClr val="0F766E"/>
          </a:solidFill>
          <a:ln/>
        </p:spPr>
      </p:sp>
      <p:sp>
        <p:nvSpPr>
          <p:cNvPr id="18" name="Text 16"/>
          <p:cNvSpPr/>
          <p:nvPr/>
        </p:nvSpPr>
        <p:spPr>
          <a:xfrm>
            <a:off x="9235440" y="17373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9" name="Text 17"/>
          <p:cNvSpPr/>
          <p:nvPr/>
        </p:nvSpPr>
        <p:spPr>
          <a:xfrm>
            <a:off x="9875520" y="1737360"/>
            <a:ext cx="2103120"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Rewrite the cancellation flow</a:t>
            </a:r>
            <a:endParaRPr lang="en-US" sz="1400" dirty="0"/>
          </a:p>
        </p:txBody>
      </p:sp>
      <p:sp>
        <p:nvSpPr>
          <p:cNvPr id="20" name="Text 18"/>
          <p:cNvSpPr/>
          <p:nvPr/>
        </p:nvSpPr>
        <p:spPr>
          <a:xfrm>
            <a:off x="9235440" y="2468880"/>
            <a:ext cx="2743200" cy="118872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The #1 negative-review pattern. Make the cancel path painless even though it costs a member.</a:t>
            </a:r>
            <a:endParaRPr lang="en-US" sz="1200" dirty="0"/>
          </a:p>
        </p:txBody>
      </p:sp>
      <p:sp>
        <p:nvSpPr>
          <p:cNvPr id="21" name="Shape 19"/>
          <p:cNvSpPr/>
          <p:nvPr/>
        </p:nvSpPr>
        <p:spPr>
          <a:xfrm>
            <a:off x="5760720" y="3931920"/>
            <a:ext cx="3108960" cy="2194560"/>
          </a:xfrm>
          <a:prstGeom prst="rect">
            <a:avLst/>
          </a:prstGeom>
          <a:solidFill>
            <a:srgbClr val="F8FAFC"/>
          </a:solidFill>
          <a:ln w="12700">
            <a:solidFill>
              <a:srgbClr val="E2E8F0"/>
            </a:solidFill>
            <a:prstDash val="solid"/>
          </a:ln>
        </p:spPr>
      </p:sp>
      <p:sp>
        <p:nvSpPr>
          <p:cNvPr id="22" name="Shape 20"/>
          <p:cNvSpPr/>
          <p:nvPr/>
        </p:nvSpPr>
        <p:spPr>
          <a:xfrm>
            <a:off x="5943600" y="4114800"/>
            <a:ext cx="502920" cy="502920"/>
          </a:xfrm>
          <a:prstGeom prst="ellipse">
            <a:avLst/>
          </a:prstGeom>
          <a:solidFill>
            <a:srgbClr val="0F766E"/>
          </a:solidFill>
          <a:ln/>
        </p:spPr>
      </p:sp>
      <p:sp>
        <p:nvSpPr>
          <p:cNvPr id="23" name="Text 21"/>
          <p:cNvSpPr/>
          <p:nvPr/>
        </p:nvSpPr>
        <p:spPr>
          <a:xfrm>
            <a:off x="5943600" y="4114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2"/>
          <p:cNvSpPr/>
          <p:nvPr/>
        </p:nvSpPr>
        <p:spPr>
          <a:xfrm>
            <a:off x="6583680" y="4114800"/>
            <a:ext cx="2103120"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Highlight coaches in marketing</a:t>
            </a:r>
            <a:endParaRPr lang="en-US" sz="1400" dirty="0"/>
          </a:p>
        </p:txBody>
      </p:sp>
      <p:sp>
        <p:nvSpPr>
          <p:cNvPr id="25" name="Text 23"/>
          <p:cNvSpPr/>
          <p:nvPr/>
        </p:nvSpPr>
        <p:spPr>
          <a:xfrm>
            <a:off x="5943600" y="4846320"/>
            <a:ext cx="2743200" cy="118872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Replace generic curriculum copy with instructor stories — that's what the data says converts.</a:t>
            </a:r>
            <a:endParaRPr lang="en-US" sz="1200" dirty="0"/>
          </a:p>
        </p:txBody>
      </p:sp>
      <p:sp>
        <p:nvSpPr>
          <p:cNvPr id="26" name="Shape 24"/>
          <p:cNvSpPr/>
          <p:nvPr/>
        </p:nvSpPr>
        <p:spPr>
          <a:xfrm>
            <a:off x="9052560" y="3931920"/>
            <a:ext cx="3108960" cy="2194560"/>
          </a:xfrm>
          <a:prstGeom prst="rect">
            <a:avLst/>
          </a:prstGeom>
          <a:solidFill>
            <a:srgbClr val="F8FAFC"/>
          </a:solidFill>
          <a:ln w="12700">
            <a:solidFill>
              <a:srgbClr val="E2E8F0"/>
            </a:solidFill>
            <a:prstDash val="solid"/>
          </a:ln>
        </p:spPr>
      </p:sp>
      <p:sp>
        <p:nvSpPr>
          <p:cNvPr id="27" name="Shape 25"/>
          <p:cNvSpPr/>
          <p:nvPr/>
        </p:nvSpPr>
        <p:spPr>
          <a:xfrm>
            <a:off x="9235440" y="4114800"/>
            <a:ext cx="502920" cy="502920"/>
          </a:xfrm>
          <a:prstGeom prst="ellipse">
            <a:avLst/>
          </a:prstGeom>
          <a:solidFill>
            <a:srgbClr val="0F766E"/>
          </a:solidFill>
          <a:ln/>
        </p:spPr>
      </p:sp>
      <p:sp>
        <p:nvSpPr>
          <p:cNvPr id="28" name="Text 26"/>
          <p:cNvSpPr/>
          <p:nvPr/>
        </p:nvSpPr>
        <p:spPr>
          <a:xfrm>
            <a:off x="9235440" y="4114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9" name="Text 27"/>
          <p:cNvSpPr/>
          <p:nvPr/>
        </p:nvSpPr>
        <p:spPr>
          <a:xfrm>
            <a:off x="9875520" y="4114800"/>
            <a:ext cx="2103120"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Score reviews as they come in</a:t>
            </a:r>
            <a:endParaRPr lang="en-US" sz="1400" dirty="0"/>
          </a:p>
        </p:txBody>
      </p:sp>
      <p:sp>
        <p:nvSpPr>
          <p:cNvPr id="30" name="Text 28"/>
          <p:cNvSpPr/>
          <p:nvPr/>
        </p:nvSpPr>
        <p:spPr>
          <a:xfrm>
            <a:off x="9235440" y="4846320"/>
            <a:ext cx="2743200" cy="118872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Run new Google and Yelp reviews through the classifier; respond to flagged negatives within 24 hours.</a:t>
            </a:r>
            <a:endParaRPr lang="en-US" sz="1200" dirty="0"/>
          </a:p>
        </p:txBody>
      </p:sp>
      <p:sp>
        <p:nvSpPr>
          <p:cNvPr id="31" name="Text 29"/>
          <p:cNvSpPr/>
          <p:nvPr/>
        </p:nvSpPr>
        <p:spPr>
          <a:xfrm>
            <a:off x="11430000" y="6537960"/>
            <a:ext cx="64008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548640" y="548640"/>
            <a:ext cx="73152" cy="5760720"/>
          </a:xfrm>
          <a:prstGeom prst="rect">
            <a:avLst/>
          </a:prstGeom>
          <a:solidFill>
            <a:srgbClr val="14B8A6"/>
          </a:solidFill>
          <a:ln/>
        </p:spPr>
      </p:sp>
      <p:sp>
        <p:nvSpPr>
          <p:cNvPr id="3" name="Text 1"/>
          <p:cNvSpPr/>
          <p:nvPr/>
        </p:nvSpPr>
        <p:spPr>
          <a:xfrm>
            <a:off x="868680" y="548640"/>
            <a:ext cx="10058400" cy="320040"/>
          </a:xfrm>
          <a:prstGeom prst="rect">
            <a:avLst/>
          </a:prstGeom>
          <a:noFill/>
          <a:ln/>
        </p:spPr>
        <p:txBody>
          <a:bodyPr wrap="square" lIns="0" tIns="0" rIns="0" bIns="0" rtlCol="0" anchor="ctr"/>
          <a:lstStyle/>
          <a:p>
            <a:pPr indent="0" marL="0">
              <a:buNone/>
            </a:pPr>
            <a:r>
              <a:rPr lang="en-US" sz="1200" b="1" spc="600" kern="0" dirty="0">
                <a:solidFill>
                  <a:srgbClr val="14B8A6"/>
                </a:solidFill>
                <a:latin typeface="Calibri" pitchFamily="34" charset="0"/>
                <a:ea typeface="Calibri" pitchFamily="34" charset="-122"/>
                <a:cs typeface="Calibri" pitchFamily="34" charset="-120"/>
              </a:rPr>
              <a:t>CONCLUSION  •  WHAT WE LEARNED</a:t>
            </a:r>
            <a:endParaRPr lang="en-US" sz="1200" dirty="0"/>
          </a:p>
        </p:txBody>
      </p:sp>
      <p:sp>
        <p:nvSpPr>
          <p:cNvPr id="4" name="Text 2"/>
          <p:cNvSpPr/>
          <p:nvPr/>
        </p:nvSpPr>
        <p:spPr>
          <a:xfrm>
            <a:off x="868680" y="960120"/>
            <a:ext cx="10972800" cy="12801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Reviews are the front door — and now we know what's written on it.</a:t>
            </a:r>
            <a:endParaRPr lang="en-US" sz="3000" dirty="0"/>
          </a:p>
        </p:txBody>
      </p:sp>
      <p:sp>
        <p:nvSpPr>
          <p:cNvPr id="5" name="Shape 3"/>
          <p:cNvSpPr/>
          <p:nvPr/>
        </p:nvSpPr>
        <p:spPr>
          <a:xfrm>
            <a:off x="868680" y="2423160"/>
            <a:ext cx="3703320" cy="1920240"/>
          </a:xfrm>
          <a:prstGeom prst="rect">
            <a:avLst/>
          </a:prstGeom>
          <a:solidFill>
            <a:srgbClr val="111827"/>
          </a:solidFill>
          <a:ln w="12700">
            <a:solidFill>
              <a:srgbClr val="374151"/>
            </a:solidFill>
            <a:prstDash val="solid"/>
          </a:ln>
        </p:spPr>
      </p:sp>
      <p:sp>
        <p:nvSpPr>
          <p:cNvPr id="6" name="Text 4"/>
          <p:cNvSpPr/>
          <p:nvPr/>
        </p:nvSpPr>
        <p:spPr>
          <a:xfrm>
            <a:off x="1143000" y="2606040"/>
            <a:ext cx="315468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143000" y="2971800"/>
            <a:ext cx="315468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Coaching is the product</a:t>
            </a:r>
            <a:endParaRPr lang="en-US" sz="1600" dirty="0"/>
          </a:p>
        </p:txBody>
      </p:sp>
      <p:sp>
        <p:nvSpPr>
          <p:cNvPr id="8" name="Text 6"/>
          <p:cNvSpPr/>
          <p:nvPr/>
        </p:nvSpPr>
        <p:spPr>
          <a:xfrm>
            <a:off x="1143000" y="3520440"/>
            <a:ext cx="3154680" cy="77724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All four sentiment/topic methods converge: instructor quality and welcoming atmosphere are the dominant drivers of satisfaction.</a:t>
            </a:r>
            <a:endParaRPr lang="en-US" sz="1200" dirty="0"/>
          </a:p>
        </p:txBody>
      </p:sp>
      <p:sp>
        <p:nvSpPr>
          <p:cNvPr id="9" name="Shape 7"/>
          <p:cNvSpPr/>
          <p:nvPr/>
        </p:nvSpPr>
        <p:spPr>
          <a:xfrm>
            <a:off x="4709160" y="2423160"/>
            <a:ext cx="3703320" cy="1920240"/>
          </a:xfrm>
          <a:prstGeom prst="rect">
            <a:avLst/>
          </a:prstGeom>
          <a:solidFill>
            <a:srgbClr val="111827"/>
          </a:solidFill>
          <a:ln w="12700">
            <a:solidFill>
              <a:srgbClr val="374151"/>
            </a:solidFill>
            <a:prstDash val="solid"/>
          </a:ln>
        </p:spPr>
      </p:sp>
      <p:sp>
        <p:nvSpPr>
          <p:cNvPr id="10" name="Text 8"/>
          <p:cNvSpPr/>
          <p:nvPr/>
        </p:nvSpPr>
        <p:spPr>
          <a:xfrm>
            <a:off x="4983480" y="2606040"/>
            <a:ext cx="315468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Calibri" pitchFamily="34" charset="0"/>
                <a:ea typeface="Calibri" pitchFamily="34" charset="-122"/>
                <a:cs typeface="Calibri" pitchFamily="34" charset="-120"/>
              </a:rPr>
              <a:t>02</a:t>
            </a:r>
            <a:endParaRPr lang="en-US" sz="1400" dirty="0"/>
          </a:p>
        </p:txBody>
      </p:sp>
      <p:sp>
        <p:nvSpPr>
          <p:cNvPr id="11" name="Text 9"/>
          <p:cNvSpPr/>
          <p:nvPr/>
        </p:nvSpPr>
        <p:spPr>
          <a:xfrm>
            <a:off x="4983480" y="2971800"/>
            <a:ext cx="315468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Operations is the failure mode</a:t>
            </a:r>
            <a:endParaRPr lang="en-US" sz="1600" dirty="0"/>
          </a:p>
        </p:txBody>
      </p:sp>
      <p:sp>
        <p:nvSpPr>
          <p:cNvPr id="12" name="Text 10"/>
          <p:cNvSpPr/>
          <p:nvPr/>
        </p:nvSpPr>
        <p:spPr>
          <a:xfrm>
            <a:off x="4983480" y="3520440"/>
            <a:ext cx="3154680" cy="77724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BERTopic's topics-per-class shows 1-2★ reviews cluster on contracts, billing, and front-desk experience — not training.</a:t>
            </a:r>
            <a:endParaRPr lang="en-US" sz="1200" dirty="0"/>
          </a:p>
        </p:txBody>
      </p:sp>
      <p:sp>
        <p:nvSpPr>
          <p:cNvPr id="13" name="Shape 11"/>
          <p:cNvSpPr/>
          <p:nvPr/>
        </p:nvSpPr>
        <p:spPr>
          <a:xfrm>
            <a:off x="8549640" y="2423160"/>
            <a:ext cx="3703320" cy="1920240"/>
          </a:xfrm>
          <a:prstGeom prst="rect">
            <a:avLst/>
          </a:prstGeom>
          <a:solidFill>
            <a:srgbClr val="111827"/>
          </a:solidFill>
          <a:ln w="12700">
            <a:solidFill>
              <a:srgbClr val="374151"/>
            </a:solidFill>
            <a:prstDash val="solid"/>
          </a:ln>
        </p:spPr>
      </p:sp>
      <p:sp>
        <p:nvSpPr>
          <p:cNvPr id="14" name="Text 12"/>
          <p:cNvSpPr/>
          <p:nvPr/>
        </p:nvSpPr>
        <p:spPr>
          <a:xfrm>
            <a:off x="8823960" y="2606040"/>
            <a:ext cx="315468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Calibri" pitchFamily="34" charset="0"/>
                <a:ea typeface="Calibri" pitchFamily="34" charset="-122"/>
                <a:cs typeface="Calibri" pitchFamily="34" charset="-120"/>
              </a:rPr>
              <a:t>03</a:t>
            </a:r>
            <a:endParaRPr lang="en-US" sz="1400" dirty="0"/>
          </a:p>
        </p:txBody>
      </p:sp>
      <p:sp>
        <p:nvSpPr>
          <p:cNvPr id="15" name="Text 13"/>
          <p:cNvSpPr/>
          <p:nvPr/>
        </p:nvSpPr>
        <p:spPr>
          <a:xfrm>
            <a:off x="8823960" y="2971800"/>
            <a:ext cx="315468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Two-stage pipeline going forward</a:t>
            </a:r>
            <a:endParaRPr lang="en-US" sz="1600" dirty="0"/>
          </a:p>
        </p:txBody>
      </p:sp>
      <p:sp>
        <p:nvSpPr>
          <p:cNvPr id="16" name="Text 14"/>
          <p:cNvSpPr/>
          <p:nvPr/>
        </p:nvSpPr>
        <p:spPr>
          <a:xfrm>
            <a:off x="8823960" y="3520440"/>
            <a:ext cx="3154680" cy="77724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SVM at 0.89 F1 for fast triage; Llama few-shot at 0.95 F1 for context-aware extraction on flagged reviews.</a:t>
            </a:r>
            <a:endParaRPr lang="en-US" sz="1200" dirty="0"/>
          </a:p>
        </p:txBody>
      </p:sp>
      <p:sp>
        <p:nvSpPr>
          <p:cNvPr id="17" name="Shape 15"/>
          <p:cNvSpPr/>
          <p:nvPr/>
        </p:nvSpPr>
        <p:spPr>
          <a:xfrm>
            <a:off x="868680" y="4617720"/>
            <a:ext cx="11247120" cy="1371600"/>
          </a:xfrm>
          <a:prstGeom prst="rect">
            <a:avLst/>
          </a:prstGeom>
          <a:solidFill>
            <a:srgbClr val="0B1220"/>
          </a:solidFill>
          <a:ln w="12700">
            <a:solidFill>
              <a:srgbClr val="374151"/>
            </a:solidFill>
            <a:prstDash val="solid"/>
          </a:ln>
        </p:spPr>
      </p:sp>
      <p:sp>
        <p:nvSpPr>
          <p:cNvPr id="18" name="Text 16"/>
          <p:cNvSpPr/>
          <p:nvPr/>
        </p:nvSpPr>
        <p:spPr>
          <a:xfrm>
            <a:off x="1051560" y="4754880"/>
            <a:ext cx="10972800" cy="274320"/>
          </a:xfrm>
          <a:prstGeom prst="rect">
            <a:avLst/>
          </a:prstGeom>
          <a:noFill/>
          <a:ln/>
        </p:spPr>
        <p:txBody>
          <a:bodyPr wrap="square" lIns="0" tIns="0" rIns="0" bIns="0"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LIMITATIONS &amp; NEXT STEPS</a:t>
            </a:r>
            <a:endParaRPr lang="en-US" sz="1100" dirty="0"/>
          </a:p>
        </p:txBody>
      </p:sp>
      <p:sp>
        <p:nvSpPr>
          <p:cNvPr id="19" name="Text 17"/>
          <p:cNvSpPr/>
          <p:nvPr/>
        </p:nvSpPr>
        <p:spPr>
          <a:xfrm>
            <a:off x="1051560" y="5029200"/>
            <a:ext cx="10972800" cy="914400"/>
          </a:xfrm>
          <a:prstGeom prst="rect">
            <a:avLst/>
          </a:prstGeom>
          <a:noFill/>
          <a:ln/>
        </p:spPr>
        <p:txBody>
          <a:bodyPr wrap="square" lIns="0" tIns="0" rIns="0" bIns="0" rtlCol="0" anchor="t"/>
          <a:lstStyle/>
          <a:p>
            <a:pPr marL="342900" indent="-342900">
              <a:buSzPct val="100000"/>
              <a:buChar char="•"/>
            </a:pPr>
            <a:r>
              <a:rPr lang="en-US" sz="1200" dirty="0">
                <a:solidFill>
                  <a:srgbClr val="CBD5E1"/>
                </a:solidFill>
                <a:latin typeface="Calibri" pitchFamily="34" charset="0"/>
                <a:ea typeface="Calibri" pitchFamily="34" charset="-122"/>
                <a:cs typeface="Calibri" pitchFamily="34" charset="-120"/>
              </a:rPr>
              <a:t>Yelp reviews self-select for engaged customers; results are directional, not causal.</a:t>
            </a:r>
            <a:endParaRPr lang="en-US" sz="1200" dirty="0"/>
          </a:p>
          <a:p>
            <a:pPr marL="342900" indent="-342900">
              <a:buSzPct val="100000"/>
              <a:buChar char="•"/>
            </a:pPr>
            <a:r>
              <a:rPr lang="en-US" sz="1200" dirty="0">
                <a:solidFill>
                  <a:srgbClr val="CBD5E1"/>
                </a:solidFill>
                <a:latin typeface="Calibri" pitchFamily="34" charset="0"/>
                <a:ea typeface="Calibri" pitchFamily="34" charset="-122"/>
                <a:cs typeface="Calibri" pitchFamily="34" charset="-120"/>
              </a:rPr>
              <a:t>LLM scoring used a 200-review balanced sample for runtime; SVM/GRU used the full 643-review test set.</a:t>
            </a:r>
            <a:endParaRPr lang="en-US" sz="1200" dirty="0"/>
          </a:p>
          <a:p>
            <a:pPr marL="342900" indent="-342900">
              <a:buSzPct val="100000"/>
              <a:buChar char="•"/>
            </a:pPr>
            <a:r>
              <a:rPr lang="en-US" sz="1200" dirty="0">
                <a:solidFill>
                  <a:srgbClr val="CBD5E1"/>
                </a:solidFill>
                <a:latin typeface="Calibri" pitchFamily="34" charset="0"/>
                <a:ea typeface="Calibri" pitchFamily="34" charset="-122"/>
                <a:cs typeface="Calibri" pitchFamily="34" charset="-120"/>
              </a:rPr>
              <a:t>Next step: deploy the SVM + Llama pipeline on Patriot's own incoming Google and Yelp reviews.</a:t>
            </a:r>
            <a:endParaRPr lang="en-US" sz="1200" dirty="0"/>
          </a:p>
        </p:txBody>
      </p:sp>
      <p:sp>
        <p:nvSpPr>
          <p:cNvPr id="20" name="Text 18"/>
          <p:cNvSpPr/>
          <p:nvPr/>
        </p:nvSpPr>
        <p:spPr>
          <a:xfrm>
            <a:off x="868680" y="6172200"/>
            <a:ext cx="10972800" cy="274320"/>
          </a:xfrm>
          <a:prstGeom prst="rect">
            <a:avLst/>
          </a:prstGeom>
          <a:noFill/>
          <a:ln/>
        </p:spPr>
        <p:txBody>
          <a:bodyPr wrap="square" lIns="0" tIns="0" rIns="0" bIns="0" rtlCol="0" anchor="ctr"/>
          <a:lstStyle/>
          <a:p>
            <a:pPr algn="ctr" indent="0" marL="0">
              <a:buNone/>
            </a:pPr>
            <a:r>
              <a:rPr lang="en-US" sz="1200" i="1" dirty="0">
                <a:solidFill>
                  <a:srgbClr val="14B8A6"/>
                </a:solidFill>
                <a:latin typeface="Calibri" pitchFamily="34" charset="0"/>
                <a:ea typeface="Calibri" pitchFamily="34" charset="-122"/>
                <a:cs typeface="Calibri" pitchFamily="34" charset="-120"/>
              </a:rPr>
              <a:t>Thank you  •  Questions welcome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Drives Enrollment Decisions in Martial Arts Schools?</dc:title>
  <dc:subject>PptxGenJS Presentation</dc:subject>
  <dc:creator>William Sandoval</dc:creator>
  <cp:lastModifiedBy>William Sandoval</cp:lastModifiedBy>
  <cp:revision>1</cp:revision>
  <dcterms:created xsi:type="dcterms:W3CDTF">2026-05-06T05:33:06Z</dcterms:created>
  <dcterms:modified xsi:type="dcterms:W3CDTF">2026-05-06T05:33:06Z</dcterms:modified>
</cp:coreProperties>
</file>